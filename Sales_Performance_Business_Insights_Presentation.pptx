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Sales ($)</c:v>
                </c:pt>
              </c:strCache>
            </c:strRef>
          </c:tx>
          <c:spPr>
            <a:solidFill>
              <a:srgbClr val="1E2761"/>
            </a:solidFill>
            <a:ln w="3810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14727.98</c:v>
                </c:pt>
                <c:pt idx="1">
                  <c:v>23194.83</c:v>
                </c:pt>
                <c:pt idx="2">
                  <c:v>49868.36</c:v>
                </c:pt>
                <c:pt idx="3">
                  <c:v>21135.41</c:v>
                </c:pt>
                <c:pt idx="4">
                  <c:v>79653.04</c:v>
                </c:pt>
                <c:pt idx="5">
                  <c:v>51474.2</c:v>
                </c:pt>
                <c:pt idx="6">
                  <c:v>43176.75</c:v>
                </c:pt>
                <c:pt idx="7">
                  <c:v>70477.34</c:v>
                </c:pt>
                <c:pt idx="8">
                  <c:v>55339.26</c:v>
                </c:pt>
                <c:pt idx="9">
                  <c:v>15568.29</c:v>
                </c:pt>
                <c:pt idx="10">
                  <c:v>64241.59</c:v>
                </c:pt>
                <c:pt idx="11">
                  <c:v>40737.46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670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708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Sales &amp; Profit by Product Category ($)</a:t>
            </a:r>
          </a:p>
        </c:rich>
      </c:tx>
      <c:layout/>
      <c:overlay val="0"/>
    </c:title>
    <c:autoTitleDeleted val="0"/>
    <c:plotArea>
      <c:layout/>
      <c:barChart>
        <c:barDir val="bar"/>
        <c:grouping val="clustered"/>
        <c:varyColors val="0"/>
        <c:ser>
          <c:idx val="0"/>
          <c:order val="0"/>
          <c:tx>
            <c:strRef>
              <c:f>Sheet1!$B$1</c:f>
              <c:strCache>
                <c:ptCount val="1"/>
                <c:pt idx="0">
                  <c:v>Sales ($)</c:v>
                </c:pt>
              </c:strCache>
            </c:strRef>
          </c:tx>
          <c:spPr>
            <a:solidFill>
              <a:srgbClr val="1E276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Clothing</c:v>
                  </c:pt>
                  <c:pt idx="1">
                    <c:v>Office Supplies</c:v>
                  </c:pt>
                  <c:pt idx="2">
                    <c:v>Groceries</c:v>
                  </c:pt>
                  <c:pt idx="3">
                    <c:v>Electronics</c:v>
                  </c:pt>
                  <c:pt idx="4">
                    <c:v>Furniture</c:v>
                  </c:pt>
                </c:lvl>
              </c:multiLvlStrCache>
            </c:multiLvlStrRef>
          </c:cat>
          <c:val>
            <c:numRef>
              <c:f>Sheet1!$B$2:$B$6</c:f>
              <c:numCache>
                <c:formatCode>General</c:formatCode>
                <c:ptCount val="5"/>
                <c:pt idx="0">
                  <c:v>32909.81</c:v>
                </c:pt>
                <c:pt idx="1">
                  <c:v>23632</c:v>
                </c:pt>
                <c:pt idx="2">
                  <c:v>14729.67</c:v>
                </c:pt>
                <c:pt idx="3">
                  <c:v>221780.64</c:v>
                </c:pt>
                <c:pt idx="4">
                  <c:v>236542.39</c:v>
                </c:pt>
              </c:numCache>
            </c:numRef>
          </c:val>
        </c:ser>
        <c:ser>
          <c:idx val="1"/>
          <c:order val="1"/>
          <c:tx>
            <c:strRef>
              <c:f>Sheet1!$C$1</c:f>
              <c:strCache>
                <c:ptCount val="1"/>
                <c:pt idx="0">
                  <c:v>Profit ($)</c:v>
                </c:pt>
              </c:strCache>
            </c:strRef>
          </c:tx>
          <c:spPr>
            <a:solidFill>
              <a:srgbClr val="D9A4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Clothing</c:v>
                  </c:pt>
                  <c:pt idx="1">
                    <c:v>Office Supplies</c:v>
                  </c:pt>
                  <c:pt idx="2">
                    <c:v>Groceries</c:v>
                  </c:pt>
                  <c:pt idx="3">
                    <c:v>Electronics</c:v>
                  </c:pt>
                  <c:pt idx="4">
                    <c:v>Furniture</c:v>
                  </c:pt>
                </c:lvl>
              </c:multiLvlStrCache>
            </c:multiLvlStrRef>
          </c:cat>
          <c:val>
            <c:numRef>
              <c:f>Sheet1!$C$2:$C$6</c:f>
              <c:numCache>
                <c:formatCode>General</c:formatCode>
                <c:ptCount val="5"/>
                <c:pt idx="0">
                  <c:v>12029.38</c:v>
                </c:pt>
                <c:pt idx="1">
                  <c:v>6946.88</c:v>
                </c:pt>
                <c:pt idx="2">
                  <c:v>1890.68</c:v>
                </c:pt>
                <c:pt idx="3">
                  <c:v>39124.69</c:v>
                </c:pt>
                <c:pt idx="4">
                  <c:v>51768.34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6"/>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670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Profit Margin % by Category (sorted ascending)</a:t>
            </a:r>
          </a:p>
        </c:rich>
      </c:tx>
      <c:layout/>
      <c:overlay val="0"/>
    </c:title>
    <c:autoTitleDeleted val="0"/>
    <c:plotArea>
      <c:layout/>
      <c:barChart>
        <c:barDir val="col"/>
        <c:grouping val="clustered"/>
        <c:varyColors val="0"/>
        <c:ser>
          <c:idx val="0"/>
          <c:order val="0"/>
          <c:tx>
            <c:strRef>
              <c:f>Sheet1!$B$1</c:f>
              <c:strCache>
                <c:ptCount val="1"/>
                <c:pt idx="0">
                  <c:v>Profit Margin %</c:v>
                </c:pt>
              </c:strCache>
            </c:strRef>
          </c:tx>
          <c:spPr>
            <a:solidFill>
              <a:srgbClr val="D9A441"/>
            </a:solidFill>
            <a:effectLst/>
          </c:spPr>
          <c:invertIfNegative val="0"/>
          <c:dLbls>
            <c:numFmt formatCode="0%" sourceLinked="0"/>
            <c:txPr>
              <a:bodyPr/>
              <a:lstStyle/>
              <a:p>
                <a:pPr>
                  <a:defRPr b="1" i="0" strike="noStrike" sz="1200" u="none">
                    <a:solidFill>
                      <a:srgbClr val="1E2761"/>
                    </a:solidFill>
                    <a:latin typeface="Arial"/>
                  </a:defRPr>
                </a:pPr>
              </a:p>
            </c:txPr>
            <c:showLegendKey val="0"/>
            <c:showVal val="1"/>
            <c:showCatName val="0"/>
            <c:showSerName val="0"/>
            <c:showPercent val="0"/>
            <c:showBubbleSize val="0"/>
            <c:showLeaderLines val="0"/>
          </c:dLbls>
          <c:cat>
            <c:multiLvlStrRef>
              <c:f>Sheet1!$A$2:$A$6</c:f>
              <c:multiLvlStrCache>
                <c:ptCount val="5"/>
                <c:lvl>
                  <c:pt idx="0">
                    <c:v>Groceries</c:v>
                  </c:pt>
                  <c:pt idx="1">
                    <c:v>Electronics</c:v>
                  </c:pt>
                  <c:pt idx="2">
                    <c:v>Furniture</c:v>
                  </c:pt>
                  <c:pt idx="3">
                    <c:v>Office Supplies</c:v>
                  </c:pt>
                  <c:pt idx="4">
                    <c:v>Clothing</c:v>
                  </c:pt>
                </c:lvl>
              </c:multiLvlStrCache>
            </c:multiLvlStrRef>
          </c:cat>
          <c:val>
            <c:numRef>
              <c:f>Sheet1!$B$2:$B$6</c:f>
              <c:numCache>
                <c:formatCode>General</c:formatCode>
                <c:ptCount val="5"/>
                <c:pt idx="0">
                  <c:v>0.128</c:v>
                </c:pt>
                <c:pt idx="1">
                  <c:v>0.176</c:v>
                </c:pt>
                <c:pt idx="2">
                  <c:v>0.219</c:v>
                </c:pt>
                <c:pt idx="3">
                  <c:v>0.294</c:v>
                </c:pt>
                <c:pt idx="4">
                  <c:v>0.366</c:v>
                </c:pt>
              </c:numCache>
            </c:numRef>
          </c:val>
        </c:ser>
        <c:dLbls>
          <c:numFmt formatCode="0%" sourceLinked="0"/>
          <c:txPr>
            <a:bodyPr/>
            <a:lstStyle/>
            <a:p>
              <a:pPr>
                <a:defRPr b="1" i="0" strike="noStrike" sz="12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70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Total Sales by Region ($)</a:t>
            </a:r>
          </a:p>
        </c:rich>
      </c:tx>
      <c:layout/>
      <c:overlay val="0"/>
    </c:title>
    <c:autoTitleDeleted val="0"/>
    <c:plotArea>
      <c:layout/>
      <c:barChart>
        <c:barDir val="bar"/>
        <c:grouping val="clustered"/>
        <c:varyColors val="0"/>
        <c:ser>
          <c:idx val="0"/>
          <c:order val="0"/>
          <c:tx>
            <c:strRef>
              <c:f>Sheet1!$B$1</c:f>
              <c:strCache>
                <c:ptCount val="1"/>
                <c:pt idx="0">
                  <c:v>Sales ($)</c:v>
                </c:pt>
              </c:strCache>
            </c:strRef>
          </c:tx>
          <c:spPr>
            <a:solidFill>
              <a:srgbClr val="1E2761"/>
            </a:solidFill>
            <a:effectLst/>
          </c:spPr>
          <c:invertIfNegative val="0"/>
          <c:dLbls>
            <c:numFmt formatCode="$#,##0" sourceLinked="0"/>
            <c:txPr>
              <a:bodyPr/>
              <a:lstStyle/>
              <a:p>
                <a:pPr>
                  <a:defRPr b="0" i="0" strike="noStrike" sz="1100" u="none">
                    <a:solidFill>
                      <a:srgbClr val="1E2761"/>
                    </a:solidFill>
                    <a:latin typeface="Arial"/>
                  </a:defRPr>
                </a:pPr>
              </a:p>
            </c:txPr>
            <c:showLegendKey val="0"/>
            <c:showVal val="1"/>
            <c:showCatName val="0"/>
            <c:showSerName val="0"/>
            <c:showPercent val="0"/>
            <c:showBubbleSize val="0"/>
            <c:showLeaderLines val="0"/>
          </c:dLbls>
          <c:cat>
            <c:multiLvlStrRef>
              <c:f>Sheet1!$A$2:$A$5</c:f>
              <c:multiLvlStrCache>
                <c:ptCount val="4"/>
                <c:lvl>
                  <c:pt idx="0">
                    <c:v>South</c:v>
                  </c:pt>
                  <c:pt idx="1">
                    <c:v>East</c:v>
                  </c:pt>
                  <c:pt idx="2">
                    <c:v>West</c:v>
                  </c:pt>
                  <c:pt idx="3">
                    <c:v>North</c:v>
                  </c:pt>
                </c:lvl>
              </c:multiLvlStrCache>
            </c:multiLvlStrRef>
          </c:cat>
          <c:val>
            <c:numRef>
              <c:f>Sheet1!$B$2:$B$5</c:f>
              <c:numCache>
                <c:formatCode>General</c:formatCode>
                <c:ptCount val="4"/>
                <c:pt idx="0">
                  <c:v>100897.41</c:v>
                </c:pt>
                <c:pt idx="1">
                  <c:v>138952.76</c:v>
                </c:pt>
                <c:pt idx="2">
                  <c:v>140661.3</c:v>
                </c:pt>
                <c:pt idx="3">
                  <c:v>149083.04</c:v>
                </c:pt>
              </c:numCache>
            </c:numRef>
          </c:val>
        </c:ser>
        <c:dLbls>
          <c:numFmt formatCode="$#,##0" sourceLinked="0"/>
          <c:txPr>
            <a:bodyPr/>
            <a:lstStyle/>
            <a:p>
              <a:pPr>
                <a:defRPr b="0" i="0" strike="noStrike" sz="11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6"/>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670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Total Sales by Customer Segment ($)</a:t>
            </a:r>
          </a:p>
        </c:rich>
      </c:tx>
      <c:layout/>
      <c:overlay val="0"/>
    </c:title>
    <c:autoTitleDeleted val="0"/>
    <c:plotArea>
      <c:layout/>
      <c:barChart>
        <c:barDir val="col"/>
        <c:grouping val="clustered"/>
        <c:varyColors val="0"/>
        <c:ser>
          <c:idx val="0"/>
          <c:order val="0"/>
          <c:tx>
            <c:strRef>
              <c:f>Sheet1!$B$1</c:f>
              <c:strCache>
                <c:ptCount val="1"/>
                <c:pt idx="0">
                  <c:v>Sales ($)</c:v>
                </c:pt>
              </c:strCache>
            </c:strRef>
          </c:tx>
          <c:spPr>
            <a:solidFill>
              <a:srgbClr val="1E2761"/>
            </a:solidFill>
            <a:effectLst/>
          </c:spPr>
          <c:invertIfNegative val="0"/>
          <c:dLbls>
            <c:numFmt formatCode="$#,##0" sourceLinked="0"/>
            <c:txPr>
              <a:bodyPr/>
              <a:lstStyle/>
              <a:p>
                <a:pPr>
                  <a:defRPr b="0" i="0" strike="noStrike" sz="1100" u="none">
                    <a:solidFill>
                      <a:srgbClr val="1E2761"/>
                    </a:solidFill>
                    <a:latin typeface="Arial"/>
                  </a:defRPr>
                </a:pPr>
              </a:p>
            </c:txPr>
            <c:showLegendKey val="0"/>
            <c:showVal val="1"/>
            <c:showCatName val="0"/>
            <c:showSerName val="0"/>
            <c:showPercent val="0"/>
            <c:showBubbleSize val="0"/>
            <c:showLeaderLines val="0"/>
          </c:dLbls>
          <c:cat>
            <c:multiLvlStrRef>
              <c:f>Sheet1!$A$2:$A$4</c:f>
              <c:multiLvlStrCache>
                <c:ptCount val="3"/>
                <c:lvl>
                  <c:pt idx="0">
                    <c:v>Consumer</c:v>
                  </c:pt>
                  <c:pt idx="1">
                    <c:v>Corporate</c:v>
                  </c:pt>
                  <c:pt idx="2">
                    <c:v>Small Business</c:v>
                  </c:pt>
                </c:lvl>
              </c:multiLvlStrCache>
            </c:multiLvlStrRef>
          </c:cat>
          <c:val>
            <c:numRef>
              <c:f>Sheet1!$B$2:$B$4</c:f>
              <c:numCache>
                <c:formatCode>General</c:formatCode>
                <c:ptCount val="3"/>
                <c:pt idx="0">
                  <c:v>141741.76</c:v>
                </c:pt>
                <c:pt idx="1">
                  <c:v>177815.13</c:v>
                </c:pt>
                <c:pt idx="2">
                  <c:v>210037.62</c:v>
                </c:pt>
              </c:numCache>
            </c:numRef>
          </c:val>
        </c:ser>
        <c:dLbls>
          <c:numFmt formatCode="$#,##0" sourceLinked="0"/>
          <c:txPr>
            <a:bodyPr/>
            <a:lstStyle/>
            <a:p>
              <a:pPr>
                <a:defRPr b="0" i="0" strike="noStrike" sz="11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70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Monthly Sales Trend, FY2024 ($)</a:t>
            </a:r>
          </a:p>
        </c:rich>
      </c:tx>
      <c:layout/>
      <c:overlay val="0"/>
    </c:title>
    <c:autoTitleDeleted val="0"/>
    <c:plotArea>
      <c:layout/>
      <c:lineChart>
        <c:varyColors val="0"/>
        <c:ser>
          <c:idx val="0"/>
          <c:order val="0"/>
          <c:tx>
            <c:strRef>
              <c:f>Sheet1!$B$1</c:f>
              <c:strCache>
                <c:ptCount val="1"/>
                <c:pt idx="0">
                  <c:v>Sales ($)</c:v>
                </c:pt>
              </c:strCache>
            </c:strRef>
          </c:tx>
          <c:spPr>
            <a:solidFill>
              <a:srgbClr val="1E2761"/>
            </a:solidFill>
            <a:ln w="444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14727.98</c:v>
                </c:pt>
                <c:pt idx="1">
                  <c:v>23194.83</c:v>
                </c:pt>
                <c:pt idx="2">
                  <c:v>49868.36</c:v>
                </c:pt>
                <c:pt idx="3">
                  <c:v>21135.41</c:v>
                </c:pt>
                <c:pt idx="4">
                  <c:v>79653.04</c:v>
                </c:pt>
                <c:pt idx="5">
                  <c:v>51474.2</c:v>
                </c:pt>
                <c:pt idx="6">
                  <c:v>43176.75</c:v>
                </c:pt>
                <c:pt idx="7">
                  <c:v>70477.34</c:v>
                </c:pt>
                <c:pt idx="8">
                  <c:v>55339.26</c:v>
                </c:pt>
                <c:pt idx="9">
                  <c:v>15568.29</c:v>
                </c:pt>
                <c:pt idx="10">
                  <c:v>64241.59</c:v>
                </c:pt>
                <c:pt idx="11">
                  <c:v>40737.46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70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7"/>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E2761">
              <a:alpha val="60000"/>
            </a:srgbClr>
          </a:solidFill>
          <a:ln/>
        </p:spPr>
      </p:sp>
      <p:sp>
        <p:nvSpPr>
          <p:cNvPr id="3" name="Shape 1"/>
          <p:cNvSpPr/>
          <p:nvPr/>
        </p:nvSpPr>
        <p:spPr>
          <a:xfrm>
            <a:off x="10332720" y="2926080"/>
            <a:ext cx="3657600" cy="3657600"/>
          </a:xfrm>
          <a:prstGeom prst="ellipse">
            <a:avLst/>
          </a:prstGeom>
          <a:solidFill>
            <a:srgbClr val="44526B">
              <a:alpha val="45000"/>
            </a:srgbClr>
          </a:solidFill>
          <a:ln/>
        </p:spPr>
      </p:sp>
      <p:sp>
        <p:nvSpPr>
          <p:cNvPr id="4" name="Text 2"/>
          <p:cNvSpPr/>
          <p:nvPr/>
        </p:nvSpPr>
        <p:spPr>
          <a:xfrm>
            <a:off x="822960" y="1371600"/>
            <a:ext cx="7315200" cy="365760"/>
          </a:xfrm>
          <a:prstGeom prst="rect">
            <a:avLst/>
          </a:prstGeom>
          <a:noFill/>
          <a:ln/>
        </p:spPr>
        <p:txBody>
          <a:bodyPr wrap="square"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BRIGHTMART RETAIL CO.</a:t>
            </a:r>
            <a:endParaRPr lang="en-US" sz="1400" dirty="0"/>
          </a:p>
        </p:txBody>
      </p:sp>
      <p:sp>
        <p:nvSpPr>
          <p:cNvPr id="5" name="Text 3"/>
          <p:cNvSpPr/>
          <p:nvPr/>
        </p:nvSpPr>
        <p:spPr>
          <a:xfrm>
            <a:off x="822960" y="1828800"/>
            <a:ext cx="8686800" cy="1828800"/>
          </a:xfrm>
          <a:prstGeom prst="rect">
            <a:avLst/>
          </a:prstGeom>
          <a:noFill/>
          <a:ln/>
        </p:spPr>
        <p:txBody>
          <a:bodyPr wrap="square"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Sales Performance &amp;</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Business Insights Report</a:t>
            </a:r>
            <a:endParaRPr lang="en-US" sz="4200" dirty="0"/>
          </a:p>
        </p:txBody>
      </p:sp>
      <p:sp>
        <p:nvSpPr>
          <p:cNvPr id="6" name="Text 4"/>
          <p:cNvSpPr/>
          <p:nvPr/>
        </p:nvSpPr>
        <p:spPr>
          <a:xfrm>
            <a:off x="822960" y="3703320"/>
            <a:ext cx="8229600" cy="457200"/>
          </a:xfrm>
          <a:prstGeom prst="rect">
            <a:avLst/>
          </a:prstGeom>
          <a:noFill/>
          <a:ln/>
        </p:spPr>
        <p:txBody>
          <a:bodyPr wrap="square" rtlCol="0" anchor="ctr"/>
          <a:lstStyle/>
          <a:p>
            <a:pPr indent="0" marL="0">
              <a:buNone/>
            </a:pPr>
            <a:r>
              <a:rPr lang="en-US" sz="1800" i="1" dirty="0">
                <a:solidFill>
                  <a:srgbClr val="D9A441"/>
                </a:solidFill>
                <a:latin typeface="Calibri" pitchFamily="34" charset="0"/>
                <a:ea typeface="Calibri" pitchFamily="34" charset="-122"/>
                <a:cs typeface="Calibri" pitchFamily="34" charset="-120"/>
              </a:rPr>
              <a:t>FY2024 Sales &amp; Customer Performance Analysis</a:t>
            </a:r>
            <a:endParaRPr lang="en-US" sz="1800" dirty="0"/>
          </a:p>
        </p:txBody>
      </p:sp>
      <p:sp>
        <p:nvSpPr>
          <p:cNvPr id="7" name="Shape 5"/>
          <p:cNvSpPr/>
          <p:nvPr/>
        </p:nvSpPr>
        <p:spPr>
          <a:xfrm>
            <a:off x="822960" y="4297680"/>
            <a:ext cx="2011680" cy="0"/>
          </a:xfrm>
          <a:prstGeom prst="line">
            <a:avLst/>
          </a:prstGeom>
          <a:noFill/>
          <a:ln w="19050">
            <a:solidFill>
              <a:srgbClr val="CADCFC"/>
            </a:solidFill>
            <a:prstDash val="solid"/>
          </a:ln>
        </p:spPr>
      </p:sp>
      <p:sp>
        <p:nvSpPr>
          <p:cNvPr id="8" name="Text 6"/>
          <p:cNvSpPr/>
          <p:nvPr/>
        </p:nvSpPr>
        <p:spPr>
          <a:xfrm>
            <a:off x="822960" y="4480560"/>
            <a:ext cx="82296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Prepared by: Business &amp; Data Analyst   |   Data Source: FY2024 Sales Dataset (200 transactions)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WHAT WE'LL COVER</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Agenda</a:t>
            </a:r>
            <a:endParaRPr lang="en-US" sz="3000" dirty="0"/>
          </a:p>
        </p:txBody>
      </p:sp>
      <p:sp>
        <p:nvSpPr>
          <p:cNvPr id="4" name="Text 2"/>
          <p:cNvSpPr/>
          <p:nvPr/>
        </p:nvSpPr>
        <p:spPr>
          <a:xfrm>
            <a:off x="640080" y="1600200"/>
            <a:ext cx="91440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645920" y="1618488"/>
            <a:ext cx="420624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Business Problem</a:t>
            </a:r>
            <a:endParaRPr lang="en-US" sz="1800" dirty="0"/>
          </a:p>
        </p:txBody>
      </p:sp>
      <p:sp>
        <p:nvSpPr>
          <p:cNvPr id="6" name="Text 4"/>
          <p:cNvSpPr/>
          <p:nvPr/>
        </p:nvSpPr>
        <p:spPr>
          <a:xfrm>
            <a:off x="1645920" y="1984248"/>
            <a:ext cx="7772400" cy="365760"/>
          </a:xfrm>
          <a:prstGeom prst="rect">
            <a:avLst/>
          </a:prstGeom>
          <a:noFill/>
          <a:ln/>
        </p:spPr>
        <p:txBody>
          <a:bodyPr wrap="square" rtlCol="0" anchor="ctr"/>
          <a:lstStyle/>
          <a:p>
            <a:pPr indent="0" marL="0">
              <a:buNone/>
            </a:pPr>
            <a:r>
              <a:rPr lang="en-US" sz="1300" dirty="0">
                <a:solidFill>
                  <a:srgbClr val="667085"/>
                </a:solidFill>
                <a:latin typeface="Calibri" pitchFamily="34" charset="0"/>
                <a:ea typeface="Calibri" pitchFamily="34" charset="-122"/>
                <a:cs typeface="Calibri" pitchFamily="34" charset="-120"/>
              </a:rPr>
              <a:t>Why sales data wasn't driving decisions</a:t>
            </a:r>
            <a:endParaRPr lang="en-US" sz="1300" dirty="0"/>
          </a:p>
        </p:txBody>
      </p:sp>
      <p:sp>
        <p:nvSpPr>
          <p:cNvPr id="7" name="Text 5"/>
          <p:cNvSpPr/>
          <p:nvPr/>
        </p:nvSpPr>
        <p:spPr>
          <a:xfrm>
            <a:off x="640080" y="2514600"/>
            <a:ext cx="91440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1645920" y="2532888"/>
            <a:ext cx="420624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Analysis Summary</a:t>
            </a:r>
            <a:endParaRPr lang="en-US" sz="1800" dirty="0"/>
          </a:p>
        </p:txBody>
      </p:sp>
      <p:sp>
        <p:nvSpPr>
          <p:cNvPr id="9" name="Text 7"/>
          <p:cNvSpPr/>
          <p:nvPr/>
        </p:nvSpPr>
        <p:spPr>
          <a:xfrm>
            <a:off x="1645920" y="2898648"/>
            <a:ext cx="7772400" cy="365760"/>
          </a:xfrm>
          <a:prstGeom prst="rect">
            <a:avLst/>
          </a:prstGeom>
          <a:noFill/>
          <a:ln/>
        </p:spPr>
        <p:txBody>
          <a:bodyPr wrap="square" rtlCol="0" anchor="ctr"/>
          <a:lstStyle/>
          <a:p>
            <a:pPr indent="0" marL="0">
              <a:buNone/>
            </a:pPr>
            <a:r>
              <a:rPr lang="en-US" sz="1300" dirty="0">
                <a:solidFill>
                  <a:srgbClr val="667085"/>
                </a:solidFill>
                <a:latin typeface="Calibri" pitchFamily="34" charset="0"/>
                <a:ea typeface="Calibri" pitchFamily="34" charset="-122"/>
                <a:cs typeface="Calibri" pitchFamily="34" charset="-120"/>
              </a:rPr>
              <a:t>FY2024 performance at a glance</a:t>
            </a:r>
            <a:endParaRPr lang="en-US" sz="1300" dirty="0"/>
          </a:p>
        </p:txBody>
      </p:sp>
      <p:sp>
        <p:nvSpPr>
          <p:cNvPr id="10" name="Text 8"/>
          <p:cNvSpPr/>
          <p:nvPr/>
        </p:nvSpPr>
        <p:spPr>
          <a:xfrm>
            <a:off x="640080" y="3429000"/>
            <a:ext cx="91440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645920" y="3447288"/>
            <a:ext cx="420624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Key Findings</a:t>
            </a:r>
            <a:endParaRPr lang="en-US" sz="1800" dirty="0"/>
          </a:p>
        </p:txBody>
      </p:sp>
      <p:sp>
        <p:nvSpPr>
          <p:cNvPr id="12" name="Text 10"/>
          <p:cNvSpPr/>
          <p:nvPr/>
        </p:nvSpPr>
        <p:spPr>
          <a:xfrm>
            <a:off x="1645920" y="3813048"/>
            <a:ext cx="7772400" cy="365760"/>
          </a:xfrm>
          <a:prstGeom prst="rect">
            <a:avLst/>
          </a:prstGeom>
          <a:noFill/>
          <a:ln/>
        </p:spPr>
        <p:txBody>
          <a:bodyPr wrap="square" rtlCol="0" anchor="ctr"/>
          <a:lstStyle/>
          <a:p>
            <a:pPr indent="0" marL="0">
              <a:buNone/>
            </a:pPr>
            <a:r>
              <a:rPr lang="en-US" sz="1300" dirty="0">
                <a:solidFill>
                  <a:srgbClr val="667085"/>
                </a:solidFill>
                <a:latin typeface="Calibri" pitchFamily="34" charset="0"/>
                <a:ea typeface="Calibri" pitchFamily="34" charset="-122"/>
                <a:cs typeface="Calibri" pitchFamily="34" charset="-120"/>
              </a:rPr>
              <a:t>Category, region, segment &amp; seasonal trends</a:t>
            </a:r>
            <a:endParaRPr lang="en-US" sz="1300" dirty="0"/>
          </a:p>
        </p:txBody>
      </p:sp>
      <p:sp>
        <p:nvSpPr>
          <p:cNvPr id="13" name="Text 11"/>
          <p:cNvSpPr/>
          <p:nvPr/>
        </p:nvSpPr>
        <p:spPr>
          <a:xfrm>
            <a:off x="640080" y="4343400"/>
            <a:ext cx="91440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1645920" y="4361688"/>
            <a:ext cx="420624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Recommendations</a:t>
            </a:r>
            <a:endParaRPr lang="en-US" sz="1800" dirty="0"/>
          </a:p>
        </p:txBody>
      </p:sp>
      <p:sp>
        <p:nvSpPr>
          <p:cNvPr id="15" name="Text 13"/>
          <p:cNvSpPr/>
          <p:nvPr/>
        </p:nvSpPr>
        <p:spPr>
          <a:xfrm>
            <a:off x="1645920" y="4727448"/>
            <a:ext cx="7772400" cy="365760"/>
          </a:xfrm>
          <a:prstGeom prst="rect">
            <a:avLst/>
          </a:prstGeom>
          <a:noFill/>
          <a:ln/>
        </p:spPr>
        <p:txBody>
          <a:bodyPr wrap="square" rtlCol="0" anchor="ctr"/>
          <a:lstStyle/>
          <a:p>
            <a:pPr indent="0" marL="0">
              <a:buNone/>
            </a:pPr>
            <a:r>
              <a:rPr lang="en-US" sz="1300" dirty="0">
                <a:solidFill>
                  <a:srgbClr val="667085"/>
                </a:solidFill>
                <a:latin typeface="Calibri" pitchFamily="34" charset="0"/>
                <a:ea typeface="Calibri" pitchFamily="34" charset="-122"/>
                <a:cs typeface="Calibri" pitchFamily="34" charset="-120"/>
              </a:rPr>
              <a:t>Where to focus next</a:t>
            </a:r>
            <a:endParaRPr lang="en-US" sz="1300" dirty="0"/>
          </a:p>
        </p:txBody>
      </p:sp>
      <p:sp>
        <p:nvSpPr>
          <p:cNvPr id="16" name="Text 14"/>
          <p:cNvSpPr/>
          <p:nvPr/>
        </p:nvSpPr>
        <p:spPr>
          <a:xfrm>
            <a:off x="640080" y="5257800"/>
            <a:ext cx="914400" cy="822960"/>
          </a:xfrm>
          <a:prstGeom prst="rect">
            <a:avLst/>
          </a:prstGeom>
          <a:noFill/>
          <a:ln/>
        </p:spPr>
        <p:txBody>
          <a:bodyPr wrap="square"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05</a:t>
            </a:r>
            <a:endParaRPr lang="en-US" sz="3000" dirty="0"/>
          </a:p>
        </p:txBody>
      </p:sp>
      <p:sp>
        <p:nvSpPr>
          <p:cNvPr id="17" name="Text 15"/>
          <p:cNvSpPr/>
          <p:nvPr/>
        </p:nvSpPr>
        <p:spPr>
          <a:xfrm>
            <a:off x="1645920" y="5276088"/>
            <a:ext cx="420624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Power BI Report Design</a:t>
            </a:r>
            <a:endParaRPr lang="en-US" sz="1800" dirty="0"/>
          </a:p>
        </p:txBody>
      </p:sp>
      <p:sp>
        <p:nvSpPr>
          <p:cNvPr id="18" name="Text 16"/>
          <p:cNvSpPr/>
          <p:nvPr/>
        </p:nvSpPr>
        <p:spPr>
          <a:xfrm>
            <a:off x="1645920" y="5641848"/>
            <a:ext cx="7772400" cy="365760"/>
          </a:xfrm>
          <a:prstGeom prst="rect">
            <a:avLst/>
          </a:prstGeom>
          <a:noFill/>
          <a:ln/>
        </p:spPr>
        <p:txBody>
          <a:bodyPr wrap="square" rtlCol="0" anchor="ctr"/>
          <a:lstStyle/>
          <a:p>
            <a:pPr indent="0" marL="0">
              <a:buNone/>
            </a:pPr>
            <a:r>
              <a:rPr lang="en-US" sz="1300" dirty="0">
                <a:solidFill>
                  <a:srgbClr val="667085"/>
                </a:solidFill>
                <a:latin typeface="Calibri" pitchFamily="34" charset="0"/>
                <a:ea typeface="Calibri" pitchFamily="34" charset="-122"/>
                <a:cs typeface="Calibri" pitchFamily="34" charset="-120"/>
              </a:rPr>
              <a:t>How this will live on as a self-service dashboard</a:t>
            </a:r>
            <a:endParaRPr lang="en-US" sz="1300" dirty="0"/>
          </a:p>
        </p:txBody>
      </p:sp>
      <p:sp>
        <p:nvSpPr>
          <p:cNvPr id="19" name="Text 17"/>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20" name="Text 1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01</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Business Problem</a:t>
            </a:r>
            <a:endParaRPr lang="en-US" sz="3000" dirty="0"/>
          </a:p>
        </p:txBody>
      </p:sp>
      <p:sp>
        <p:nvSpPr>
          <p:cNvPr id="4" name="Shape 2"/>
          <p:cNvSpPr/>
          <p:nvPr/>
        </p:nvSpPr>
        <p:spPr>
          <a:xfrm>
            <a:off x="548640" y="1554480"/>
            <a:ext cx="6949440" cy="4480560"/>
          </a:xfrm>
          <a:prstGeom prst="roundRect">
            <a:avLst>
              <a:gd name="adj" fmla="val 1633"/>
            </a:avLst>
          </a:prstGeom>
          <a:solidFill>
            <a:srgbClr val="FFFFFF"/>
          </a:solidFill>
          <a:ln/>
          <a:effectLst>
            <a:outerShdw sx="100000" sy="100000" kx="0" ky="0" algn="bl" rotWithShape="0" blurRad="101600" dist="38100" dir="5400000">
              <a:srgbClr val="000000">
                <a:alpha val="10000"/>
              </a:srgbClr>
            </a:outerShdw>
          </a:effectLst>
        </p:spPr>
      </p:sp>
      <p:sp>
        <p:nvSpPr>
          <p:cNvPr id="5" name="Shape 3"/>
          <p:cNvSpPr/>
          <p:nvPr/>
        </p:nvSpPr>
        <p:spPr>
          <a:xfrm>
            <a:off x="868680" y="1874520"/>
            <a:ext cx="640080" cy="64008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024128" y="2029968"/>
            <a:ext cx="329184" cy="329184"/>
          </a:xfrm>
          <a:prstGeom prst="rect">
            <a:avLst/>
          </a:prstGeom>
        </p:spPr>
      </p:pic>
      <p:sp>
        <p:nvSpPr>
          <p:cNvPr id="7" name="Text 4"/>
          <p:cNvSpPr/>
          <p:nvPr/>
        </p:nvSpPr>
        <p:spPr>
          <a:xfrm>
            <a:off x="1737360" y="1874520"/>
            <a:ext cx="5577840" cy="6400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Sales are recorded — but never summarized</a:t>
            </a:r>
            <a:endParaRPr lang="en-US" sz="1800" dirty="0"/>
          </a:p>
        </p:txBody>
      </p:sp>
      <p:sp>
        <p:nvSpPr>
          <p:cNvPr id="8" name="Text 5"/>
          <p:cNvSpPr/>
          <p:nvPr/>
        </p:nvSpPr>
        <p:spPr>
          <a:xfrm>
            <a:off x="868680" y="2697480"/>
            <a:ext cx="6309360" cy="1188720"/>
          </a:xfrm>
          <a:prstGeom prst="rect">
            <a:avLst/>
          </a:prstGeom>
          <a:noFill/>
          <a:ln/>
        </p:spPr>
        <p:txBody>
          <a:bodyPr wrap="square" rtlCol="0" anchor="ctr"/>
          <a:lstStyle/>
          <a:p>
            <a:pPr indent="0" marL="0">
              <a:lnSpc>
                <a:spcPct val="125000"/>
              </a:lnSpc>
              <a:buNone/>
            </a:pPr>
            <a:r>
              <a:rPr lang="en-US" sz="1400" dirty="0">
                <a:solidFill>
                  <a:srgbClr val="1B2436"/>
                </a:solidFill>
                <a:latin typeface="Calibri" pitchFamily="34" charset="0"/>
                <a:ea typeface="Calibri" pitchFamily="34" charset="-122"/>
                <a:cs typeface="Calibri" pitchFamily="34" charset="-120"/>
              </a:rPr>
              <a:t>Sales and profit at BrightMart Retail Co. are logged transaction by transaction, but leadership has no consolidated view of performance. Without it, budget and marketing decisions are made without clear evidence.</a:t>
            </a:r>
            <a:endParaRPr lang="en-US" sz="1400" dirty="0"/>
          </a:p>
        </p:txBody>
      </p:sp>
      <p:sp>
        <p:nvSpPr>
          <p:cNvPr id="9" name="Shape 6"/>
          <p:cNvSpPr/>
          <p:nvPr/>
        </p:nvSpPr>
        <p:spPr>
          <a:xfrm>
            <a:off x="868680" y="4160520"/>
            <a:ext cx="109728" cy="109728"/>
          </a:xfrm>
          <a:prstGeom prst="ellipse">
            <a:avLst/>
          </a:prstGeom>
          <a:solidFill>
            <a:srgbClr val="D9A441"/>
          </a:solidFill>
          <a:ln/>
        </p:spPr>
      </p:sp>
      <p:sp>
        <p:nvSpPr>
          <p:cNvPr id="10" name="Text 7"/>
          <p:cNvSpPr/>
          <p:nvPr/>
        </p:nvSpPr>
        <p:spPr>
          <a:xfrm>
            <a:off x="1143000" y="4041648"/>
            <a:ext cx="6035040" cy="365760"/>
          </a:xfrm>
          <a:prstGeom prst="rect">
            <a:avLst/>
          </a:prstGeom>
          <a:noFill/>
          <a:ln/>
        </p:spPr>
        <p:txBody>
          <a:bodyPr wrap="square" rtlCol="0" anchor="ctr"/>
          <a:lstStyle/>
          <a:p>
            <a:pPr indent="0" marL="0">
              <a:buNone/>
            </a:pPr>
            <a:r>
              <a:rPr lang="en-US" sz="1350" dirty="0">
                <a:solidFill>
                  <a:srgbClr val="1B2436"/>
                </a:solidFill>
                <a:latin typeface="Calibri" pitchFamily="34" charset="0"/>
                <a:ea typeface="Calibri" pitchFamily="34" charset="-122"/>
                <a:cs typeface="Calibri" pitchFamily="34" charset="-120"/>
              </a:rPr>
              <a:t>Which regions are actually profitable?</a:t>
            </a:r>
            <a:endParaRPr lang="en-US" sz="1350" dirty="0"/>
          </a:p>
        </p:txBody>
      </p:sp>
      <p:sp>
        <p:nvSpPr>
          <p:cNvPr id="11" name="Shape 8"/>
          <p:cNvSpPr/>
          <p:nvPr/>
        </p:nvSpPr>
        <p:spPr>
          <a:xfrm>
            <a:off x="868680" y="4617720"/>
            <a:ext cx="109728" cy="109728"/>
          </a:xfrm>
          <a:prstGeom prst="ellipse">
            <a:avLst/>
          </a:prstGeom>
          <a:solidFill>
            <a:srgbClr val="D9A441"/>
          </a:solidFill>
          <a:ln/>
        </p:spPr>
      </p:sp>
      <p:sp>
        <p:nvSpPr>
          <p:cNvPr id="12" name="Text 9"/>
          <p:cNvSpPr/>
          <p:nvPr/>
        </p:nvSpPr>
        <p:spPr>
          <a:xfrm>
            <a:off x="1143000" y="4498848"/>
            <a:ext cx="6035040" cy="365760"/>
          </a:xfrm>
          <a:prstGeom prst="rect">
            <a:avLst/>
          </a:prstGeom>
          <a:noFill/>
          <a:ln/>
        </p:spPr>
        <p:txBody>
          <a:bodyPr wrap="square" rtlCol="0" anchor="ctr"/>
          <a:lstStyle/>
          <a:p>
            <a:pPr indent="0" marL="0">
              <a:buNone/>
            </a:pPr>
            <a:r>
              <a:rPr lang="en-US" sz="1350" dirty="0">
                <a:solidFill>
                  <a:srgbClr val="1B2436"/>
                </a:solidFill>
                <a:latin typeface="Calibri" pitchFamily="34" charset="0"/>
                <a:ea typeface="Calibri" pitchFamily="34" charset="-122"/>
                <a:cs typeface="Calibri" pitchFamily="34" charset="-120"/>
              </a:rPr>
              <a:t>Which product categories drag down margin?</a:t>
            </a:r>
            <a:endParaRPr lang="en-US" sz="1350" dirty="0"/>
          </a:p>
        </p:txBody>
      </p:sp>
      <p:sp>
        <p:nvSpPr>
          <p:cNvPr id="13" name="Shape 10"/>
          <p:cNvSpPr/>
          <p:nvPr/>
        </p:nvSpPr>
        <p:spPr>
          <a:xfrm>
            <a:off x="868680" y="5074920"/>
            <a:ext cx="109728" cy="109728"/>
          </a:xfrm>
          <a:prstGeom prst="ellipse">
            <a:avLst/>
          </a:prstGeom>
          <a:solidFill>
            <a:srgbClr val="D9A441"/>
          </a:solidFill>
          <a:ln/>
        </p:spPr>
      </p:sp>
      <p:sp>
        <p:nvSpPr>
          <p:cNvPr id="14" name="Text 11"/>
          <p:cNvSpPr/>
          <p:nvPr/>
        </p:nvSpPr>
        <p:spPr>
          <a:xfrm>
            <a:off x="1143000" y="4956048"/>
            <a:ext cx="6035040" cy="365760"/>
          </a:xfrm>
          <a:prstGeom prst="rect">
            <a:avLst/>
          </a:prstGeom>
          <a:noFill/>
          <a:ln/>
        </p:spPr>
        <p:txBody>
          <a:bodyPr wrap="square" rtlCol="0" anchor="ctr"/>
          <a:lstStyle/>
          <a:p>
            <a:pPr indent="0" marL="0">
              <a:buNone/>
            </a:pPr>
            <a:r>
              <a:rPr lang="en-US" sz="1350" dirty="0">
                <a:solidFill>
                  <a:srgbClr val="1B2436"/>
                </a:solidFill>
                <a:latin typeface="Calibri" pitchFamily="34" charset="0"/>
                <a:ea typeface="Calibri" pitchFamily="34" charset="-122"/>
                <a:cs typeface="Calibri" pitchFamily="34" charset="-120"/>
              </a:rPr>
              <a:t>Which customer segments deserve retention focus?</a:t>
            </a:r>
            <a:endParaRPr lang="en-US" sz="1350" dirty="0"/>
          </a:p>
        </p:txBody>
      </p:sp>
      <p:sp>
        <p:nvSpPr>
          <p:cNvPr id="15" name="Shape 12"/>
          <p:cNvSpPr/>
          <p:nvPr/>
        </p:nvSpPr>
        <p:spPr>
          <a:xfrm>
            <a:off x="7818120" y="1554480"/>
            <a:ext cx="3840480" cy="4480560"/>
          </a:xfrm>
          <a:prstGeom prst="roundRect">
            <a:avLst>
              <a:gd name="adj" fmla="val 1905"/>
            </a:avLst>
          </a:prstGeom>
          <a:solidFill>
            <a:srgbClr val="1E2761"/>
          </a:solidFill>
          <a:ln/>
        </p:spPr>
      </p:sp>
      <p:sp>
        <p:nvSpPr>
          <p:cNvPr id="16" name="Text 13"/>
          <p:cNvSpPr/>
          <p:nvPr/>
        </p:nvSpPr>
        <p:spPr>
          <a:xfrm>
            <a:off x="7818120" y="2103120"/>
            <a:ext cx="3840480" cy="1005840"/>
          </a:xfrm>
          <a:prstGeom prst="rect">
            <a:avLst/>
          </a:prstGeom>
          <a:noFill/>
          <a:ln/>
        </p:spPr>
        <p:txBody>
          <a:bodyPr wrap="square"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200</a:t>
            </a:r>
            <a:endParaRPr lang="en-US" sz="5400" dirty="0"/>
          </a:p>
        </p:txBody>
      </p:sp>
      <p:sp>
        <p:nvSpPr>
          <p:cNvPr id="17" name="Text 14"/>
          <p:cNvSpPr/>
          <p:nvPr/>
        </p:nvSpPr>
        <p:spPr>
          <a:xfrm>
            <a:off x="8092440" y="3063240"/>
            <a:ext cx="3291840" cy="822960"/>
          </a:xfrm>
          <a:prstGeom prst="rect">
            <a:avLst/>
          </a:prstGeom>
          <a:noFill/>
          <a:ln/>
        </p:spPr>
        <p:txBody>
          <a:bodyPr wrap="square" rtlCol="0" anchor="ctr"/>
          <a:lstStyle/>
          <a:p>
            <a:pPr algn="ctr" indent="0" marL="0">
              <a:lnSpc>
                <a:spcPct val="120000"/>
              </a:lnSpc>
              <a:buNone/>
            </a:pPr>
            <a:r>
              <a:rPr lang="en-US" sz="1300" dirty="0">
                <a:solidFill>
                  <a:srgbClr val="CADCFC"/>
                </a:solidFill>
                <a:latin typeface="Calibri" pitchFamily="34" charset="0"/>
                <a:ea typeface="Calibri" pitchFamily="34" charset="-122"/>
                <a:cs typeface="Calibri" pitchFamily="34" charset="-120"/>
              </a:rPr>
              <a:t>FY2024 transactions analyzed</a:t>
            </a:r>
            <a:endParaRPr lang="en-US" sz="1300" dirty="0"/>
          </a:p>
          <a:p>
            <a:pPr algn="ctr" indent="0" marL="0">
              <a:lnSpc>
                <a:spcPct val="120000"/>
              </a:lnSpc>
              <a:buNone/>
            </a:pPr>
            <a:r>
              <a:rPr lang="en-US" sz="1300" dirty="0">
                <a:solidFill>
                  <a:srgbClr val="CADCFC"/>
                </a:solidFill>
                <a:latin typeface="Calibri" pitchFamily="34" charset="0"/>
                <a:ea typeface="Calibri" pitchFamily="34" charset="-122"/>
                <a:cs typeface="Calibri" pitchFamily="34" charset="-120"/>
              </a:rPr>
              <a:t>with no prior reporting layer</a:t>
            </a:r>
            <a:endParaRPr lang="en-US" sz="1300" dirty="0"/>
          </a:p>
        </p:txBody>
      </p:sp>
      <p:sp>
        <p:nvSpPr>
          <p:cNvPr id="18" name="Shape 15"/>
          <p:cNvSpPr/>
          <p:nvPr/>
        </p:nvSpPr>
        <p:spPr>
          <a:xfrm>
            <a:off x="8366760" y="4114800"/>
            <a:ext cx="2743200" cy="0"/>
          </a:xfrm>
          <a:prstGeom prst="line">
            <a:avLst/>
          </a:prstGeom>
          <a:noFill/>
          <a:ln w="12700">
            <a:solidFill>
              <a:srgbClr val="44526B"/>
            </a:solidFill>
            <a:prstDash val="solid"/>
          </a:ln>
        </p:spPr>
      </p:sp>
      <p:sp>
        <p:nvSpPr>
          <p:cNvPr id="19" name="Text 16"/>
          <p:cNvSpPr/>
          <p:nvPr/>
        </p:nvSpPr>
        <p:spPr>
          <a:xfrm>
            <a:off x="8092440" y="4343400"/>
            <a:ext cx="3291840" cy="1097280"/>
          </a:xfrm>
          <a:prstGeom prst="rect">
            <a:avLst/>
          </a:prstGeom>
          <a:noFill/>
          <a:ln/>
        </p:spPr>
        <p:txBody>
          <a:bodyPr wrap="square" rtlCol="0" anchor="ctr"/>
          <a:lstStyle/>
          <a:p>
            <a:pPr algn="ctr" indent="0" marL="0">
              <a:lnSpc>
                <a:spcPct val="130000"/>
              </a:lnSpc>
              <a:buNone/>
            </a:pPr>
            <a:r>
              <a:rPr lang="en-US" sz="1350" i="1" dirty="0">
                <a:solidFill>
                  <a:srgbClr val="FFFFFF"/>
                </a:solidFill>
                <a:latin typeface="Cambria" pitchFamily="34" charset="0"/>
                <a:ea typeface="Cambria" pitchFamily="34" charset="-122"/>
                <a:cs typeface="Cambria" pitchFamily="34" charset="-120"/>
              </a:rPr>
              <a:t>“We can't tell which segments</a:t>
            </a:r>
            <a:endParaRPr lang="en-US" sz="1350" dirty="0"/>
          </a:p>
          <a:p>
            <a:pPr algn="ctr" indent="0" marL="0">
              <a:lnSpc>
                <a:spcPct val="130000"/>
              </a:lnSpc>
              <a:buNone/>
            </a:pPr>
            <a:r>
              <a:rPr lang="en-US" sz="1350" i="1" dirty="0">
                <a:solidFill>
                  <a:srgbClr val="FFFFFF"/>
                </a:solidFill>
                <a:latin typeface="Cambria" pitchFamily="34" charset="0"/>
                <a:ea typeface="Cambria" pitchFamily="34" charset="-122"/>
                <a:cs typeface="Cambria" pitchFamily="34" charset="-120"/>
              </a:rPr>
              <a:t>are actually profitable.”</a:t>
            </a:r>
            <a:endParaRPr lang="en-US" sz="1350" dirty="0"/>
          </a:p>
        </p:txBody>
      </p:sp>
      <p:sp>
        <p:nvSpPr>
          <p:cNvPr id="20" name="Text 17"/>
          <p:cNvSpPr/>
          <p:nvPr/>
        </p:nvSpPr>
        <p:spPr>
          <a:xfrm>
            <a:off x="8092440" y="5349240"/>
            <a:ext cx="3291840" cy="36576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 Leadership, BrightMart Retail Co.</a:t>
            </a:r>
            <a:endParaRPr lang="en-US" sz="1050" dirty="0"/>
          </a:p>
        </p:txBody>
      </p:sp>
      <p:sp>
        <p:nvSpPr>
          <p:cNvPr id="21" name="Text 1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22" name="Text 1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02</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Analysis Summary</a:t>
            </a:r>
            <a:endParaRPr lang="en-US" sz="3000" dirty="0"/>
          </a:p>
        </p:txBody>
      </p:sp>
      <p:sp>
        <p:nvSpPr>
          <p:cNvPr id="4" name="Text 2"/>
          <p:cNvSpPr/>
          <p:nvPr/>
        </p:nvSpPr>
        <p:spPr>
          <a:xfrm>
            <a:off x="548640" y="1325880"/>
            <a:ext cx="10789920" cy="457200"/>
          </a:xfrm>
          <a:prstGeom prst="rect">
            <a:avLst/>
          </a:prstGeom>
          <a:noFill/>
          <a:ln/>
        </p:spPr>
        <p:txBody>
          <a:bodyPr wrap="square" rtlCol="0" anchor="ctr"/>
          <a:lstStyle/>
          <a:p>
            <a:pPr indent="0" marL="0">
              <a:buNone/>
            </a:pPr>
            <a:r>
              <a:rPr lang="en-US" sz="1350" dirty="0">
                <a:solidFill>
                  <a:srgbClr val="667085"/>
                </a:solidFill>
                <a:latin typeface="Calibri" pitchFamily="34" charset="0"/>
                <a:ea typeface="Calibri" pitchFamily="34" charset="-122"/>
                <a:cs typeface="Calibri" pitchFamily="34" charset="-120"/>
              </a:rPr>
              <a:t>Performance was broken down by product category, region, customer segment, and month to see where sales convert into profit — and where they don't.</a:t>
            </a:r>
            <a:endParaRPr lang="en-US" sz="1350" dirty="0"/>
          </a:p>
        </p:txBody>
      </p:sp>
      <p:sp>
        <p:nvSpPr>
          <p:cNvPr id="5" name="Shape 3"/>
          <p:cNvSpPr/>
          <p:nvPr/>
        </p:nvSpPr>
        <p:spPr>
          <a:xfrm>
            <a:off x="548640" y="1965960"/>
            <a:ext cx="2121408" cy="1737360"/>
          </a:xfrm>
          <a:prstGeom prst="roundRect">
            <a:avLst>
              <a:gd name="adj" fmla="val 3684"/>
            </a:avLst>
          </a:prstGeom>
          <a:solidFill>
            <a:srgbClr val="F4F7FC"/>
          </a:solidFill>
          <a:ln/>
          <a:effectLst>
            <a:outerShdw sx="100000" sy="100000" kx="0" ky="0" algn="bl" rotWithShape="0" blurRad="76200" dist="25400" dir="5400000">
              <a:srgbClr val="000000">
                <a:alpha val="8000"/>
              </a:srgbClr>
            </a:outerShdw>
          </a:effectLst>
        </p:spPr>
      </p:sp>
      <p:sp>
        <p:nvSpPr>
          <p:cNvPr id="6" name="Text 4"/>
          <p:cNvSpPr/>
          <p:nvPr/>
        </p:nvSpPr>
        <p:spPr>
          <a:xfrm>
            <a:off x="548640" y="2148840"/>
            <a:ext cx="2121408" cy="777240"/>
          </a:xfrm>
          <a:prstGeom prst="rect">
            <a:avLst/>
          </a:prstGeom>
          <a:noFill/>
          <a:ln/>
        </p:spPr>
        <p:txBody>
          <a:bodyPr wrap="square"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$529,594.51</a:t>
            </a:r>
            <a:endParaRPr lang="en-US" sz="2400" dirty="0"/>
          </a:p>
        </p:txBody>
      </p:sp>
      <p:sp>
        <p:nvSpPr>
          <p:cNvPr id="7" name="Text 5"/>
          <p:cNvSpPr/>
          <p:nvPr/>
        </p:nvSpPr>
        <p:spPr>
          <a:xfrm>
            <a:off x="548640" y="2971800"/>
            <a:ext cx="2121408" cy="548640"/>
          </a:xfrm>
          <a:prstGeom prst="rect">
            <a:avLst/>
          </a:prstGeom>
          <a:noFill/>
          <a:ln/>
        </p:spPr>
        <p:txBody>
          <a:bodyPr wrap="square" rtlCol="0" anchor="ctr"/>
          <a:lstStyle/>
          <a:p>
            <a:pPr algn="ctr" indent="0" marL="0">
              <a:buNone/>
            </a:pPr>
            <a:r>
              <a:rPr lang="en-US" sz="1250" dirty="0">
                <a:solidFill>
                  <a:srgbClr val="667085"/>
                </a:solidFill>
                <a:latin typeface="Calibri" pitchFamily="34" charset="0"/>
                <a:ea typeface="Calibri" pitchFamily="34" charset="-122"/>
                <a:cs typeface="Calibri" pitchFamily="34" charset="-120"/>
              </a:rPr>
              <a:t>Total Sales</a:t>
            </a:r>
            <a:endParaRPr lang="en-US" sz="1250" dirty="0"/>
          </a:p>
        </p:txBody>
      </p:sp>
      <p:sp>
        <p:nvSpPr>
          <p:cNvPr id="8" name="Shape 6"/>
          <p:cNvSpPr/>
          <p:nvPr/>
        </p:nvSpPr>
        <p:spPr>
          <a:xfrm>
            <a:off x="2852928" y="1965960"/>
            <a:ext cx="2121408" cy="1737360"/>
          </a:xfrm>
          <a:prstGeom prst="roundRect">
            <a:avLst>
              <a:gd name="adj" fmla="val 3684"/>
            </a:avLst>
          </a:prstGeom>
          <a:solidFill>
            <a:srgbClr val="F4F7FC"/>
          </a:solidFill>
          <a:ln/>
          <a:effectLst>
            <a:outerShdw sx="100000" sy="100000" kx="0" ky="0" algn="bl" rotWithShape="0" blurRad="76200" dist="25400" dir="5400000">
              <a:srgbClr val="000000">
                <a:alpha val="8000"/>
              </a:srgbClr>
            </a:outerShdw>
          </a:effectLst>
        </p:spPr>
      </p:sp>
      <p:sp>
        <p:nvSpPr>
          <p:cNvPr id="9" name="Text 7"/>
          <p:cNvSpPr/>
          <p:nvPr/>
        </p:nvSpPr>
        <p:spPr>
          <a:xfrm>
            <a:off x="2852928" y="2148840"/>
            <a:ext cx="2121408" cy="777240"/>
          </a:xfrm>
          <a:prstGeom prst="rect">
            <a:avLst/>
          </a:prstGeom>
          <a:noFill/>
          <a:ln/>
        </p:spPr>
        <p:txBody>
          <a:bodyPr wrap="square"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$111,759.97</a:t>
            </a:r>
            <a:endParaRPr lang="en-US" sz="2400" dirty="0"/>
          </a:p>
        </p:txBody>
      </p:sp>
      <p:sp>
        <p:nvSpPr>
          <p:cNvPr id="10" name="Text 8"/>
          <p:cNvSpPr/>
          <p:nvPr/>
        </p:nvSpPr>
        <p:spPr>
          <a:xfrm>
            <a:off x="2852928" y="2971800"/>
            <a:ext cx="2121408" cy="548640"/>
          </a:xfrm>
          <a:prstGeom prst="rect">
            <a:avLst/>
          </a:prstGeom>
          <a:noFill/>
          <a:ln/>
        </p:spPr>
        <p:txBody>
          <a:bodyPr wrap="square" rtlCol="0" anchor="ctr"/>
          <a:lstStyle/>
          <a:p>
            <a:pPr algn="ctr" indent="0" marL="0">
              <a:buNone/>
            </a:pPr>
            <a:r>
              <a:rPr lang="en-US" sz="1250" dirty="0">
                <a:solidFill>
                  <a:srgbClr val="667085"/>
                </a:solidFill>
                <a:latin typeface="Calibri" pitchFamily="34" charset="0"/>
                <a:ea typeface="Calibri" pitchFamily="34" charset="-122"/>
                <a:cs typeface="Calibri" pitchFamily="34" charset="-120"/>
              </a:rPr>
              <a:t>Total Profit</a:t>
            </a:r>
            <a:endParaRPr lang="en-US" sz="1250" dirty="0"/>
          </a:p>
        </p:txBody>
      </p:sp>
      <p:sp>
        <p:nvSpPr>
          <p:cNvPr id="11" name="Shape 9"/>
          <p:cNvSpPr/>
          <p:nvPr/>
        </p:nvSpPr>
        <p:spPr>
          <a:xfrm>
            <a:off x="5157216" y="1965960"/>
            <a:ext cx="2121408" cy="1737360"/>
          </a:xfrm>
          <a:prstGeom prst="roundRect">
            <a:avLst>
              <a:gd name="adj" fmla="val 3684"/>
            </a:avLst>
          </a:prstGeom>
          <a:solidFill>
            <a:srgbClr val="1E2761"/>
          </a:solidFill>
          <a:ln/>
          <a:effectLst>
            <a:outerShdw sx="100000" sy="100000" kx="0" ky="0" algn="bl" rotWithShape="0" blurRad="76200" dist="25400" dir="5400000">
              <a:srgbClr val="000000">
                <a:alpha val="8000"/>
              </a:srgbClr>
            </a:outerShdw>
          </a:effectLst>
        </p:spPr>
      </p:sp>
      <p:sp>
        <p:nvSpPr>
          <p:cNvPr id="12" name="Text 10"/>
          <p:cNvSpPr/>
          <p:nvPr/>
        </p:nvSpPr>
        <p:spPr>
          <a:xfrm>
            <a:off x="5157216" y="2148840"/>
            <a:ext cx="2121408" cy="777240"/>
          </a:xfrm>
          <a:prstGeom prst="rect">
            <a:avLst/>
          </a:prstGeom>
          <a:noFill/>
          <a:ln/>
        </p:spPr>
        <p:txBody>
          <a:bodyPr wrap="square" rtlCol="0" anchor="ctr"/>
          <a:lstStyle/>
          <a:p>
            <a:pPr algn="ctr" indent="0" marL="0">
              <a:buNone/>
            </a:pPr>
            <a:r>
              <a:rPr lang="en-US" sz="2800" b="1" dirty="0">
                <a:solidFill>
                  <a:srgbClr val="D9A441"/>
                </a:solidFill>
                <a:latin typeface="Cambria" pitchFamily="34" charset="0"/>
                <a:ea typeface="Cambria" pitchFamily="34" charset="-122"/>
                <a:cs typeface="Cambria" pitchFamily="34" charset="-120"/>
              </a:rPr>
              <a:t>21.1%</a:t>
            </a:r>
            <a:endParaRPr lang="en-US" sz="2800" dirty="0"/>
          </a:p>
        </p:txBody>
      </p:sp>
      <p:sp>
        <p:nvSpPr>
          <p:cNvPr id="13" name="Text 11"/>
          <p:cNvSpPr/>
          <p:nvPr/>
        </p:nvSpPr>
        <p:spPr>
          <a:xfrm>
            <a:off x="5157216" y="2971800"/>
            <a:ext cx="2121408" cy="548640"/>
          </a:xfrm>
          <a:prstGeom prst="rect">
            <a:avLst/>
          </a:prstGeom>
          <a:noFill/>
          <a:ln/>
        </p:spPr>
        <p:txBody>
          <a:bodyPr wrap="square"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Overall Profit Margin</a:t>
            </a:r>
            <a:endParaRPr lang="en-US" sz="1250" dirty="0"/>
          </a:p>
        </p:txBody>
      </p:sp>
      <p:sp>
        <p:nvSpPr>
          <p:cNvPr id="14" name="Shape 12"/>
          <p:cNvSpPr/>
          <p:nvPr/>
        </p:nvSpPr>
        <p:spPr>
          <a:xfrm>
            <a:off x="7461504" y="1965960"/>
            <a:ext cx="2121408" cy="1737360"/>
          </a:xfrm>
          <a:prstGeom prst="roundRect">
            <a:avLst>
              <a:gd name="adj" fmla="val 3684"/>
            </a:avLst>
          </a:prstGeom>
          <a:solidFill>
            <a:srgbClr val="F4F7FC"/>
          </a:solidFill>
          <a:ln/>
          <a:effectLst>
            <a:outerShdw sx="100000" sy="100000" kx="0" ky="0" algn="bl" rotWithShape="0" blurRad="76200" dist="25400" dir="5400000">
              <a:srgbClr val="000000">
                <a:alpha val="8000"/>
              </a:srgbClr>
            </a:outerShdw>
          </a:effectLst>
        </p:spPr>
      </p:sp>
      <p:sp>
        <p:nvSpPr>
          <p:cNvPr id="15" name="Text 13"/>
          <p:cNvSpPr/>
          <p:nvPr/>
        </p:nvSpPr>
        <p:spPr>
          <a:xfrm>
            <a:off x="7461504" y="2148840"/>
            <a:ext cx="2121408" cy="777240"/>
          </a:xfrm>
          <a:prstGeom prst="rect">
            <a:avLst/>
          </a:prstGeom>
          <a:noFill/>
          <a:ln/>
        </p:spPr>
        <p:txBody>
          <a:bodyPr wrap="square"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2,351</a:t>
            </a:r>
            <a:endParaRPr lang="en-US" sz="2800" dirty="0"/>
          </a:p>
        </p:txBody>
      </p:sp>
      <p:sp>
        <p:nvSpPr>
          <p:cNvPr id="16" name="Text 14"/>
          <p:cNvSpPr/>
          <p:nvPr/>
        </p:nvSpPr>
        <p:spPr>
          <a:xfrm>
            <a:off x="7461504" y="2971800"/>
            <a:ext cx="2121408" cy="548640"/>
          </a:xfrm>
          <a:prstGeom prst="rect">
            <a:avLst/>
          </a:prstGeom>
          <a:noFill/>
          <a:ln/>
        </p:spPr>
        <p:txBody>
          <a:bodyPr wrap="square" rtlCol="0" anchor="ctr"/>
          <a:lstStyle/>
          <a:p>
            <a:pPr algn="ctr" indent="0" marL="0">
              <a:buNone/>
            </a:pPr>
            <a:r>
              <a:rPr lang="en-US" sz="1250" dirty="0">
                <a:solidFill>
                  <a:srgbClr val="667085"/>
                </a:solidFill>
                <a:latin typeface="Calibri" pitchFamily="34" charset="0"/>
                <a:ea typeface="Calibri" pitchFamily="34" charset="-122"/>
                <a:cs typeface="Calibri" pitchFamily="34" charset="-120"/>
              </a:rPr>
              <a:t>Units Sold</a:t>
            </a:r>
            <a:endParaRPr lang="en-US" sz="1250" dirty="0"/>
          </a:p>
        </p:txBody>
      </p:sp>
      <p:sp>
        <p:nvSpPr>
          <p:cNvPr id="17" name="Shape 15"/>
          <p:cNvSpPr/>
          <p:nvPr/>
        </p:nvSpPr>
        <p:spPr>
          <a:xfrm>
            <a:off x="9765792" y="1965960"/>
            <a:ext cx="2121408" cy="1737360"/>
          </a:xfrm>
          <a:prstGeom prst="roundRect">
            <a:avLst>
              <a:gd name="adj" fmla="val 3684"/>
            </a:avLst>
          </a:prstGeom>
          <a:solidFill>
            <a:srgbClr val="F4F7FC"/>
          </a:solidFill>
          <a:ln/>
          <a:effectLst>
            <a:outerShdw sx="100000" sy="100000" kx="0" ky="0" algn="bl" rotWithShape="0" blurRad="76200" dist="25400" dir="5400000">
              <a:srgbClr val="000000">
                <a:alpha val="8000"/>
              </a:srgbClr>
            </a:outerShdw>
          </a:effectLst>
        </p:spPr>
      </p:sp>
      <p:sp>
        <p:nvSpPr>
          <p:cNvPr id="18" name="Text 16"/>
          <p:cNvSpPr/>
          <p:nvPr/>
        </p:nvSpPr>
        <p:spPr>
          <a:xfrm>
            <a:off x="9765792" y="2148840"/>
            <a:ext cx="2121408" cy="777240"/>
          </a:xfrm>
          <a:prstGeom prst="rect">
            <a:avLst/>
          </a:prstGeom>
          <a:noFill/>
          <a:ln/>
        </p:spPr>
        <p:txBody>
          <a:bodyPr wrap="square"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200</a:t>
            </a:r>
            <a:endParaRPr lang="en-US" sz="2800" dirty="0"/>
          </a:p>
        </p:txBody>
      </p:sp>
      <p:sp>
        <p:nvSpPr>
          <p:cNvPr id="19" name="Text 17"/>
          <p:cNvSpPr/>
          <p:nvPr/>
        </p:nvSpPr>
        <p:spPr>
          <a:xfrm>
            <a:off x="9765792" y="2971800"/>
            <a:ext cx="2121408" cy="548640"/>
          </a:xfrm>
          <a:prstGeom prst="rect">
            <a:avLst/>
          </a:prstGeom>
          <a:noFill/>
          <a:ln/>
        </p:spPr>
        <p:txBody>
          <a:bodyPr wrap="square" rtlCol="0" anchor="ctr"/>
          <a:lstStyle/>
          <a:p>
            <a:pPr algn="ctr" indent="0" marL="0">
              <a:buNone/>
            </a:pPr>
            <a:r>
              <a:rPr lang="en-US" sz="1250" dirty="0">
                <a:solidFill>
                  <a:srgbClr val="667085"/>
                </a:solidFill>
                <a:latin typeface="Calibri" pitchFamily="34" charset="0"/>
                <a:ea typeface="Calibri" pitchFamily="34" charset="-122"/>
                <a:cs typeface="Calibri" pitchFamily="34" charset="-120"/>
              </a:rPr>
              <a:t>Total Orders</a:t>
            </a:r>
            <a:endParaRPr lang="en-US" sz="1250" dirty="0"/>
          </a:p>
        </p:txBody>
      </p:sp>
      <p:sp>
        <p:nvSpPr>
          <p:cNvPr id="20" name="Text 18"/>
          <p:cNvSpPr/>
          <p:nvPr/>
        </p:nvSpPr>
        <p:spPr>
          <a:xfrm>
            <a:off x="548640" y="4023360"/>
            <a:ext cx="5486400" cy="320040"/>
          </a:xfrm>
          <a:prstGeom prst="rect">
            <a:avLst/>
          </a:prstGeom>
          <a:noFill/>
          <a:ln/>
        </p:spPr>
        <p:txBody>
          <a:bodyPr wrap="square" rtlCol="0" anchor="ctr"/>
          <a:lstStyle/>
          <a:p>
            <a:pPr indent="0" marL="0">
              <a:buNone/>
            </a:pPr>
            <a:r>
              <a:rPr lang="en-US" sz="1200" b="1" spc="100" kern="0" dirty="0">
                <a:solidFill>
                  <a:srgbClr val="1E2761"/>
                </a:solidFill>
                <a:latin typeface="Calibri" pitchFamily="34" charset="0"/>
                <a:ea typeface="Calibri" pitchFamily="34" charset="-122"/>
                <a:cs typeface="Calibri" pitchFamily="34" charset="-120"/>
              </a:rPr>
              <a:t>FY2024 SALES BY MONTH ($)</a:t>
            </a:r>
            <a:endParaRPr lang="en-US" sz="1200" dirty="0"/>
          </a:p>
        </p:txBody>
      </p:sp>
      <p:graphicFrame>
        <p:nvGraphicFramePr>
          <p:cNvPr id="21" name="Chart 0" descr=""/>
          <p:cNvGraphicFramePr/>
          <p:nvPr/>
        </p:nvGraphicFramePr>
        <p:xfrm>
          <a:off x="457200" y="4297680"/>
          <a:ext cx="11247120" cy="182880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23" name="Text 2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03 · KEY FINDING 1</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Category Performance</a:t>
            </a:r>
            <a:endParaRPr lang="en-US" sz="3000" dirty="0"/>
          </a:p>
        </p:txBody>
      </p:sp>
      <p:graphicFrame>
        <p:nvGraphicFramePr>
          <p:cNvPr id="4" name="Chart 0" descr=""/>
          <p:cNvGraphicFramePr/>
          <p:nvPr/>
        </p:nvGraphicFramePr>
        <p:xfrm>
          <a:off x="457200" y="1463040"/>
          <a:ext cx="68580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463040"/>
            <a:ext cx="4069080" cy="4480560"/>
          </a:xfrm>
          <a:prstGeom prst="roundRect">
            <a:avLst>
              <a:gd name="adj" fmla="val 1798"/>
            </a:avLst>
          </a:prstGeom>
          <a:solidFill>
            <a:srgbClr val="FFFFFF"/>
          </a:solidFill>
          <a:ln/>
          <a:effectLst>
            <a:outerShdw sx="100000" sy="100000" kx="0" ky="0" algn="bl" rotWithShape="0" blurRad="101600" dist="38100" dir="5400000">
              <a:srgbClr val="000000">
                <a:alpha val="10000"/>
              </a:srgbClr>
            </a:outerShdw>
          </a:effectLst>
        </p:spPr>
      </p:sp>
      <p:pic>
        <p:nvPicPr>
          <p:cNvPr id="6" name="Image 0" descr="preencoded.png">    </p:cNvPr>
          <p:cNvPicPr>
            <a:picLocks noChangeAspect="1"/>
          </p:cNvPicPr>
          <p:nvPr/>
        </p:nvPicPr>
        <p:blipFill>
          <a:blip r:embed="rId2"/>
          <a:stretch>
            <a:fillRect/>
          </a:stretch>
        </p:blipFill>
        <p:spPr>
          <a:xfrm>
            <a:off x="7863840" y="1737360"/>
            <a:ext cx="457200" cy="457200"/>
          </a:xfrm>
          <a:prstGeom prst="rect">
            <a:avLst/>
          </a:prstGeom>
        </p:spPr>
      </p:pic>
      <p:sp>
        <p:nvSpPr>
          <p:cNvPr id="7" name="Text 3"/>
          <p:cNvSpPr/>
          <p:nvPr/>
        </p:nvSpPr>
        <p:spPr>
          <a:xfrm>
            <a:off x="8458200" y="1719072"/>
            <a:ext cx="3063240" cy="64008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Furniture &amp; Electronics drive revenue — not always efficiently</a:t>
            </a:r>
            <a:endParaRPr lang="en-US" sz="1400" dirty="0"/>
          </a:p>
        </p:txBody>
      </p:sp>
      <p:sp>
        <p:nvSpPr>
          <p:cNvPr id="8" name="Text 4"/>
          <p:cNvSpPr/>
          <p:nvPr/>
        </p:nvSpPr>
        <p:spPr>
          <a:xfrm>
            <a:off x="7863840" y="2423160"/>
            <a:ext cx="3566160" cy="1005840"/>
          </a:xfrm>
          <a:prstGeom prst="rect">
            <a:avLst/>
          </a:prstGeom>
          <a:noFill/>
          <a:ln/>
        </p:spPr>
        <p:txBody>
          <a:bodyPr wrap="square" rtlCol="0" anchor="ctr"/>
          <a:lstStyle/>
          <a:p>
            <a:pPr indent="0" marL="0">
              <a:lnSpc>
                <a:spcPct val="125000"/>
              </a:lnSpc>
              <a:buNone/>
            </a:pPr>
            <a:r>
              <a:rPr lang="en-US" sz="1250" dirty="0">
                <a:solidFill>
                  <a:srgbClr val="1B2436"/>
                </a:solidFill>
                <a:latin typeface="Calibri" pitchFamily="34" charset="0"/>
                <a:ea typeface="Calibri" pitchFamily="34" charset="-122"/>
                <a:cs typeface="Calibri" pitchFamily="34" charset="-120"/>
              </a:rPr>
              <a:t>Furniture ($236,542, 22% margin) and Electronics ($221,781, 18% margin) generate the largest sales and highest average order values.</a:t>
            </a:r>
            <a:endParaRPr lang="en-US" sz="1250" dirty="0"/>
          </a:p>
        </p:txBody>
      </p:sp>
      <p:sp>
        <p:nvSpPr>
          <p:cNvPr id="9" name="Shape 5"/>
          <p:cNvSpPr/>
          <p:nvPr/>
        </p:nvSpPr>
        <p:spPr>
          <a:xfrm>
            <a:off x="7863840" y="3520440"/>
            <a:ext cx="3566160" cy="0"/>
          </a:xfrm>
          <a:prstGeom prst="line">
            <a:avLst/>
          </a:prstGeom>
          <a:noFill/>
          <a:ln w="12700">
            <a:solidFill>
              <a:srgbClr val="DCE1EB"/>
            </a:solidFill>
            <a:prstDash val="solid"/>
          </a:ln>
        </p:spPr>
      </p:sp>
      <p:sp>
        <p:nvSpPr>
          <p:cNvPr id="10" name="Text 6"/>
          <p:cNvSpPr/>
          <p:nvPr/>
        </p:nvSpPr>
        <p:spPr>
          <a:xfrm>
            <a:off x="7863840" y="3657600"/>
            <a:ext cx="3566160" cy="1005840"/>
          </a:xfrm>
          <a:prstGeom prst="rect">
            <a:avLst/>
          </a:prstGeom>
          <a:noFill/>
          <a:ln/>
        </p:spPr>
        <p:txBody>
          <a:bodyPr wrap="square" rtlCol="0" anchor="ctr"/>
          <a:lstStyle/>
          <a:p>
            <a:pPr indent="0" marL="0">
              <a:lnSpc>
                <a:spcPct val="125000"/>
              </a:lnSpc>
              <a:buNone/>
            </a:pPr>
            <a:r>
              <a:rPr lang="en-US" sz="1250" dirty="0">
                <a:solidFill>
                  <a:srgbClr val="1B2436"/>
                </a:solidFill>
                <a:latin typeface="Calibri" pitchFamily="34" charset="0"/>
                <a:ea typeface="Calibri" pitchFamily="34" charset="-122"/>
                <a:cs typeface="Calibri" pitchFamily="34" charset="-120"/>
              </a:rPr>
              <a:t>Clothing sells far less ($32,910) but converts sales to profit much more efficiently — a 37% margin, the highest of any category.</a:t>
            </a:r>
            <a:endParaRPr lang="en-US" sz="1250" dirty="0"/>
          </a:p>
        </p:txBody>
      </p:sp>
      <p:sp>
        <p:nvSpPr>
          <p:cNvPr id="11" name="Text 7"/>
          <p:cNvSpPr/>
          <p:nvPr/>
        </p:nvSpPr>
        <p:spPr>
          <a:xfrm>
            <a:off x="7863840" y="4754880"/>
            <a:ext cx="3566160" cy="1005840"/>
          </a:xfrm>
          <a:prstGeom prst="rect">
            <a:avLst/>
          </a:prstGeom>
          <a:noFill/>
          <a:ln/>
        </p:spPr>
        <p:txBody>
          <a:bodyPr wrap="square" rtlCol="0" anchor="ctr"/>
          <a:lstStyle/>
          <a:p>
            <a:pPr indent="0" marL="0">
              <a:lnSpc>
                <a:spcPct val="120000"/>
              </a:lnSpc>
              <a:buNone/>
            </a:pPr>
            <a:r>
              <a:rPr lang="en-US" sz="1200" i="1" dirty="0">
                <a:solidFill>
                  <a:srgbClr val="1E2761"/>
                </a:solidFill>
                <a:latin typeface="Calibri" pitchFamily="34" charset="0"/>
                <a:ea typeface="Calibri" pitchFamily="34" charset="-122"/>
                <a:cs typeface="Calibri" pitchFamily="34" charset="-120"/>
              </a:rPr>
              <a:t>Takeaway: revenue leaders and margin leaders are not the same categories.</a:t>
            </a:r>
            <a:endParaRPr lang="en-US" sz="1200" dirty="0"/>
          </a:p>
        </p:txBody>
      </p:sp>
      <p:sp>
        <p:nvSpPr>
          <p:cNvPr id="12" name="Text 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13" name="Text 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03 · KEY FINDING 2</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Category Profit Margins</a:t>
            </a:r>
            <a:endParaRPr lang="en-US" sz="3000" dirty="0"/>
          </a:p>
        </p:txBody>
      </p:sp>
      <p:graphicFrame>
        <p:nvGraphicFramePr>
          <p:cNvPr id="4" name="Chart 0" descr=""/>
          <p:cNvGraphicFramePr/>
          <p:nvPr/>
        </p:nvGraphicFramePr>
        <p:xfrm>
          <a:off x="457200" y="1508760"/>
          <a:ext cx="6858000" cy="4434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508760"/>
            <a:ext cx="4069080" cy="4434840"/>
          </a:xfrm>
          <a:prstGeom prst="roundRect">
            <a:avLst>
              <a:gd name="adj" fmla="val 1798"/>
            </a:avLst>
          </a:prstGeom>
          <a:solidFill>
            <a:srgbClr val="1E2761"/>
          </a:solidFill>
          <a:ln/>
        </p:spPr>
      </p:sp>
      <p:sp>
        <p:nvSpPr>
          <p:cNvPr id="6" name="Shape 3"/>
          <p:cNvSpPr/>
          <p:nvPr/>
        </p:nvSpPr>
        <p:spPr>
          <a:xfrm>
            <a:off x="7863840" y="1783080"/>
            <a:ext cx="594360" cy="594360"/>
          </a:xfrm>
          <a:prstGeom prst="ellipse">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8001000" y="1920240"/>
            <a:ext cx="320040" cy="320040"/>
          </a:xfrm>
          <a:prstGeom prst="rect">
            <a:avLst/>
          </a:prstGeom>
        </p:spPr>
      </p:pic>
      <p:sp>
        <p:nvSpPr>
          <p:cNvPr id="8" name="Text 4"/>
          <p:cNvSpPr/>
          <p:nvPr/>
        </p:nvSpPr>
        <p:spPr>
          <a:xfrm>
            <a:off x="7589520" y="2468880"/>
            <a:ext cx="3794760" cy="594360"/>
          </a:xfrm>
          <a:prstGeom prst="rect">
            <a:avLst/>
          </a:prstGeom>
          <a:noFill/>
          <a:ln/>
        </p:spPr>
        <p:txBody>
          <a:bodyPr wrap="square"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Groceries: high volume, weak profitability</a:t>
            </a:r>
            <a:endParaRPr lang="en-US" sz="1550" dirty="0"/>
          </a:p>
        </p:txBody>
      </p:sp>
      <p:sp>
        <p:nvSpPr>
          <p:cNvPr id="9" name="Text 5"/>
          <p:cNvSpPr/>
          <p:nvPr/>
        </p:nvSpPr>
        <p:spPr>
          <a:xfrm>
            <a:off x="7589520" y="3108960"/>
            <a:ext cx="3794760" cy="914400"/>
          </a:xfrm>
          <a:prstGeom prst="rect">
            <a:avLst/>
          </a:prstGeom>
          <a:noFill/>
          <a:ln/>
        </p:spPr>
        <p:txBody>
          <a:bodyPr wrap="square" rtlCol="0" anchor="ctr"/>
          <a:lstStyle/>
          <a:p>
            <a:pPr algn="ctr" indent="0" marL="0">
              <a:buNone/>
            </a:pPr>
            <a:r>
              <a:rPr lang="en-US" sz="4600" b="1" dirty="0">
                <a:solidFill>
                  <a:srgbClr val="D9A441"/>
                </a:solidFill>
                <a:latin typeface="Cambria" pitchFamily="34" charset="0"/>
                <a:ea typeface="Cambria" pitchFamily="34" charset="-122"/>
                <a:cs typeface="Cambria" pitchFamily="34" charset="-120"/>
              </a:rPr>
              <a:t>13%</a:t>
            </a:r>
            <a:endParaRPr lang="en-US" sz="4600" dirty="0"/>
          </a:p>
        </p:txBody>
      </p:sp>
      <p:sp>
        <p:nvSpPr>
          <p:cNvPr id="10" name="Text 6"/>
          <p:cNvSpPr/>
          <p:nvPr/>
        </p:nvSpPr>
        <p:spPr>
          <a:xfrm>
            <a:off x="7589520" y="3977640"/>
            <a:ext cx="3794760" cy="36576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lowest profit margin of any category</a:t>
            </a:r>
            <a:endParaRPr lang="en-US" sz="1250" dirty="0"/>
          </a:p>
        </p:txBody>
      </p:sp>
      <p:sp>
        <p:nvSpPr>
          <p:cNvPr id="11" name="Shape 7"/>
          <p:cNvSpPr/>
          <p:nvPr/>
        </p:nvSpPr>
        <p:spPr>
          <a:xfrm>
            <a:off x="8001000" y="4480560"/>
            <a:ext cx="2971800" cy="0"/>
          </a:xfrm>
          <a:prstGeom prst="line">
            <a:avLst/>
          </a:prstGeom>
          <a:noFill/>
          <a:ln w="12700">
            <a:solidFill>
              <a:srgbClr val="44526B"/>
            </a:solidFill>
            <a:prstDash val="solid"/>
          </a:ln>
        </p:spPr>
      </p:sp>
      <p:sp>
        <p:nvSpPr>
          <p:cNvPr id="12" name="Text 8"/>
          <p:cNvSpPr/>
          <p:nvPr/>
        </p:nvSpPr>
        <p:spPr>
          <a:xfrm>
            <a:off x="7909560" y="4709160"/>
            <a:ext cx="3154680" cy="1051560"/>
          </a:xfrm>
          <a:prstGeom prst="rect">
            <a:avLst/>
          </a:prstGeom>
          <a:noFill/>
          <a:ln/>
        </p:spPr>
        <p:txBody>
          <a:bodyPr wrap="square" rtlCol="0" anchor="ctr"/>
          <a:lstStyle/>
          <a:p>
            <a:pPr algn="ctr" indent="0" marL="0">
              <a:lnSpc>
                <a:spcPct val="125000"/>
              </a:lnSpc>
              <a:buNone/>
            </a:pPr>
            <a:r>
              <a:rPr lang="en-US" sz="1250" dirty="0">
                <a:solidFill>
                  <a:srgbClr val="FFFFFF"/>
                </a:solidFill>
                <a:latin typeface="Calibri" pitchFamily="34" charset="0"/>
                <a:ea typeface="Calibri" pitchFamily="34" charset="-122"/>
                <a:cs typeface="Calibri" pitchFamily="34" charset="-120"/>
              </a:rPr>
              <a:t>37 orders and $14,730 in steady sales — but volume alone is not translating into meaningful profit.</a:t>
            </a:r>
            <a:endParaRPr lang="en-US" sz="1250" dirty="0"/>
          </a:p>
        </p:txBody>
      </p:sp>
      <p:sp>
        <p:nvSpPr>
          <p:cNvPr id="13" name="Text 9"/>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14" name="Text 1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03 · KEY FINDING 3</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Regional Performance</a:t>
            </a:r>
            <a:endParaRPr lang="en-US" sz="3000" dirty="0"/>
          </a:p>
        </p:txBody>
      </p:sp>
      <p:graphicFrame>
        <p:nvGraphicFramePr>
          <p:cNvPr id="4" name="Chart 0" descr=""/>
          <p:cNvGraphicFramePr/>
          <p:nvPr/>
        </p:nvGraphicFramePr>
        <p:xfrm>
          <a:off x="457200" y="1508760"/>
          <a:ext cx="6858000" cy="4434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508760"/>
            <a:ext cx="4069080" cy="4434840"/>
          </a:xfrm>
          <a:prstGeom prst="roundRect">
            <a:avLst>
              <a:gd name="adj" fmla="val 1798"/>
            </a:avLst>
          </a:prstGeom>
          <a:solidFill>
            <a:srgbClr val="FFFFFF"/>
          </a:solidFill>
          <a:ln/>
          <a:effectLst>
            <a:outerShdw sx="100000" sy="100000" kx="0" ky="0" algn="bl" rotWithShape="0" blurRad="101600" dist="38100" dir="5400000">
              <a:srgbClr val="000000">
                <a:alpha val="10000"/>
              </a:srgbClr>
            </a:outerShdw>
          </a:effectLst>
        </p:spPr>
      </p:sp>
      <p:pic>
        <p:nvPicPr>
          <p:cNvPr id="6" name="Image 0" descr="preencoded.png">    </p:cNvPr>
          <p:cNvPicPr>
            <a:picLocks noChangeAspect="1"/>
          </p:cNvPicPr>
          <p:nvPr/>
        </p:nvPicPr>
        <p:blipFill>
          <a:blip r:embed="rId2"/>
          <a:stretch>
            <a:fillRect/>
          </a:stretch>
        </p:blipFill>
        <p:spPr>
          <a:xfrm>
            <a:off x="7863840" y="1783080"/>
            <a:ext cx="411480" cy="411480"/>
          </a:xfrm>
          <a:prstGeom prst="rect">
            <a:avLst/>
          </a:prstGeom>
        </p:spPr>
      </p:pic>
      <p:sp>
        <p:nvSpPr>
          <p:cNvPr id="7" name="Text 3"/>
          <p:cNvSpPr/>
          <p:nvPr/>
        </p:nvSpPr>
        <p:spPr>
          <a:xfrm>
            <a:off x="8412480" y="1737360"/>
            <a:ext cx="3108960" cy="502920"/>
          </a:xfrm>
          <a:prstGeom prst="rect">
            <a:avLst/>
          </a:prstGeom>
          <a:noFill/>
          <a:ln/>
        </p:spPr>
        <p:txBody>
          <a:bodyPr wrap="square"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South lags all other regions</a:t>
            </a:r>
            <a:endParaRPr lang="en-US" sz="1550" dirty="0"/>
          </a:p>
        </p:txBody>
      </p:sp>
      <p:sp>
        <p:nvSpPr>
          <p:cNvPr id="8" name="Text 4"/>
          <p:cNvSpPr/>
          <p:nvPr/>
        </p:nvSpPr>
        <p:spPr>
          <a:xfrm>
            <a:off x="7863840" y="2423160"/>
            <a:ext cx="3566160" cy="777240"/>
          </a:xfrm>
          <a:prstGeom prst="rect">
            <a:avLst/>
          </a:prstGeom>
          <a:noFill/>
          <a:ln/>
        </p:spPr>
        <p:txBody>
          <a:bodyPr wrap="square" rtlCol="0" anchor="ctr"/>
          <a:lstStyle/>
          <a:p>
            <a:pPr indent="0" marL="0">
              <a:buNone/>
            </a:pPr>
            <a:r>
              <a:rPr lang="en-US" sz="3400" b="1" dirty="0">
                <a:solidFill>
                  <a:srgbClr val="D9A441"/>
                </a:solidFill>
                <a:latin typeface="Cambria" pitchFamily="34" charset="0"/>
                <a:ea typeface="Cambria" pitchFamily="34" charset="-122"/>
                <a:cs typeface="Cambria" pitchFamily="34" charset="-120"/>
              </a:rPr>
              <a:t>28–32%</a:t>
            </a:r>
            <a:endParaRPr lang="en-US" sz="3400" dirty="0"/>
          </a:p>
        </p:txBody>
      </p:sp>
      <p:sp>
        <p:nvSpPr>
          <p:cNvPr id="9" name="Text 5"/>
          <p:cNvSpPr/>
          <p:nvPr/>
        </p:nvSpPr>
        <p:spPr>
          <a:xfrm>
            <a:off x="7863840" y="3200400"/>
            <a:ext cx="3566160" cy="502920"/>
          </a:xfrm>
          <a:prstGeom prst="rect">
            <a:avLst/>
          </a:prstGeom>
          <a:noFill/>
          <a:ln/>
        </p:spPr>
        <p:txBody>
          <a:bodyPr wrap="square" rtlCol="0" anchor="ctr"/>
          <a:lstStyle/>
          <a:p>
            <a:pPr indent="0" marL="0">
              <a:buNone/>
            </a:pPr>
            <a:r>
              <a:rPr lang="en-US" sz="1250" dirty="0">
                <a:solidFill>
                  <a:srgbClr val="667085"/>
                </a:solidFill>
                <a:latin typeface="Calibri" pitchFamily="34" charset="0"/>
                <a:ea typeface="Calibri" pitchFamily="34" charset="-122"/>
                <a:cs typeface="Calibri" pitchFamily="34" charset="-120"/>
              </a:rPr>
              <a:t>behind North ($149,083) and West ($140,661)</a:t>
            </a:r>
            <a:endParaRPr lang="en-US" sz="1250" dirty="0"/>
          </a:p>
        </p:txBody>
      </p:sp>
      <p:sp>
        <p:nvSpPr>
          <p:cNvPr id="10" name="Shape 6"/>
          <p:cNvSpPr/>
          <p:nvPr/>
        </p:nvSpPr>
        <p:spPr>
          <a:xfrm>
            <a:off x="7863840" y="3794760"/>
            <a:ext cx="3566160" cy="0"/>
          </a:xfrm>
          <a:prstGeom prst="line">
            <a:avLst/>
          </a:prstGeom>
          <a:noFill/>
          <a:ln w="12700">
            <a:solidFill>
              <a:srgbClr val="DCE1EB"/>
            </a:solidFill>
            <a:prstDash val="solid"/>
          </a:ln>
        </p:spPr>
      </p:sp>
      <p:sp>
        <p:nvSpPr>
          <p:cNvPr id="11" name="Text 7"/>
          <p:cNvSpPr/>
          <p:nvPr/>
        </p:nvSpPr>
        <p:spPr>
          <a:xfrm>
            <a:off x="7863840" y="3977640"/>
            <a:ext cx="3566160" cy="1554480"/>
          </a:xfrm>
          <a:prstGeom prst="rect">
            <a:avLst/>
          </a:prstGeom>
          <a:noFill/>
          <a:ln/>
        </p:spPr>
        <p:txBody>
          <a:bodyPr wrap="square" rtlCol="0" anchor="ctr"/>
          <a:lstStyle/>
          <a:p>
            <a:pPr indent="0" marL="0">
              <a:lnSpc>
                <a:spcPct val="125000"/>
              </a:lnSpc>
              <a:buNone/>
            </a:pPr>
            <a:r>
              <a:rPr lang="en-US" sz="1250" dirty="0">
                <a:solidFill>
                  <a:srgbClr val="1B2436"/>
                </a:solidFill>
                <a:latin typeface="Calibri" pitchFamily="34" charset="0"/>
                <a:ea typeface="Calibri" pitchFamily="34" charset="-122"/>
                <a:cs typeface="Calibri" pitchFamily="34" charset="-120"/>
              </a:rPr>
              <a:t>South generated $100,897 in FY2024 sales — pointing to a regional demand or execution gap rather than a company-wide issue.</a:t>
            </a:r>
            <a:endParaRPr lang="en-US" sz="1250" dirty="0"/>
          </a:p>
        </p:txBody>
      </p:sp>
      <p:sp>
        <p:nvSpPr>
          <p:cNvPr id="12" name="Text 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13" name="Text 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03 · KEY FINDING 4</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Customer Segment Insights</a:t>
            </a:r>
            <a:endParaRPr lang="en-US" sz="3000" dirty="0"/>
          </a:p>
        </p:txBody>
      </p:sp>
      <p:graphicFrame>
        <p:nvGraphicFramePr>
          <p:cNvPr id="4" name="Chart 0" descr=""/>
          <p:cNvGraphicFramePr/>
          <p:nvPr/>
        </p:nvGraphicFramePr>
        <p:xfrm>
          <a:off x="457200" y="1508760"/>
          <a:ext cx="6858000" cy="4434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508760"/>
            <a:ext cx="4069080" cy="2121408"/>
          </a:xfrm>
          <a:prstGeom prst="roundRect">
            <a:avLst>
              <a:gd name="adj" fmla="val 3448"/>
            </a:avLst>
          </a:prstGeom>
          <a:solidFill>
            <a:srgbClr val="F4F7FC"/>
          </a:solidFill>
          <a:ln/>
        </p:spPr>
      </p:sp>
      <p:pic>
        <p:nvPicPr>
          <p:cNvPr id="6" name="Image 0" descr="preencoded.png">    </p:cNvPr>
          <p:cNvPicPr>
            <a:picLocks noChangeAspect="1"/>
          </p:cNvPicPr>
          <p:nvPr/>
        </p:nvPicPr>
        <p:blipFill>
          <a:blip r:embed="rId2"/>
          <a:stretch>
            <a:fillRect/>
          </a:stretch>
        </p:blipFill>
        <p:spPr>
          <a:xfrm>
            <a:off x="7863840" y="1737360"/>
            <a:ext cx="384048" cy="384048"/>
          </a:xfrm>
          <a:prstGeom prst="rect">
            <a:avLst/>
          </a:prstGeom>
        </p:spPr>
      </p:pic>
      <p:sp>
        <p:nvSpPr>
          <p:cNvPr id="7" name="Text 3"/>
          <p:cNvSpPr/>
          <p:nvPr/>
        </p:nvSpPr>
        <p:spPr>
          <a:xfrm>
            <a:off x="8366760" y="1691640"/>
            <a:ext cx="3200400" cy="457200"/>
          </a:xfrm>
          <a:prstGeom prst="rect">
            <a:avLst/>
          </a:prstGeom>
          <a:noFill/>
          <a:ln/>
        </p:spPr>
        <p:txBody>
          <a:bodyPr wrap="square"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81 orders</a:t>
            </a:r>
            <a:endParaRPr lang="en-US" sz="2000" dirty="0"/>
          </a:p>
        </p:txBody>
      </p:sp>
      <p:sp>
        <p:nvSpPr>
          <p:cNvPr id="8" name="Text 4"/>
          <p:cNvSpPr/>
          <p:nvPr/>
        </p:nvSpPr>
        <p:spPr>
          <a:xfrm>
            <a:off x="7863840" y="2240280"/>
            <a:ext cx="3566160" cy="1280160"/>
          </a:xfrm>
          <a:prstGeom prst="rect">
            <a:avLst/>
          </a:prstGeom>
          <a:noFill/>
          <a:ln/>
        </p:spPr>
        <p:txBody>
          <a:bodyPr wrap="square" rtlCol="0" anchor="ctr"/>
          <a:lstStyle/>
          <a:p>
            <a:pPr indent="0" marL="0">
              <a:lnSpc>
                <a:spcPct val="125000"/>
              </a:lnSpc>
              <a:buNone/>
            </a:pPr>
            <a:r>
              <a:rPr lang="en-US" sz="1250" dirty="0">
                <a:solidFill>
                  <a:srgbClr val="1B2436"/>
                </a:solidFill>
                <a:latin typeface="Calibri" pitchFamily="34" charset="0"/>
                <a:ea typeface="Calibri" pitchFamily="34" charset="-122"/>
                <a:cs typeface="Calibri" pitchFamily="34" charset="-120"/>
              </a:rPr>
              <a:t>Small Business places the most orders and drives the highest total sales ($210,038) of any segment.</a:t>
            </a:r>
            <a:endParaRPr lang="en-US" sz="1250" dirty="0"/>
          </a:p>
        </p:txBody>
      </p:sp>
      <p:sp>
        <p:nvSpPr>
          <p:cNvPr id="9" name="Shape 5"/>
          <p:cNvSpPr/>
          <p:nvPr/>
        </p:nvSpPr>
        <p:spPr>
          <a:xfrm>
            <a:off x="7589520" y="3794760"/>
            <a:ext cx="4069080" cy="2148840"/>
          </a:xfrm>
          <a:prstGeom prst="roundRect">
            <a:avLst>
              <a:gd name="adj" fmla="val 3404"/>
            </a:avLst>
          </a:prstGeom>
          <a:solidFill>
            <a:srgbClr val="1E2761"/>
          </a:solidFill>
          <a:ln/>
        </p:spPr>
      </p:sp>
      <p:pic>
        <p:nvPicPr>
          <p:cNvPr id="10" name="Image 1" descr="preencoded.png">    </p:cNvPr>
          <p:cNvPicPr>
            <a:picLocks noChangeAspect="1"/>
          </p:cNvPicPr>
          <p:nvPr/>
        </p:nvPicPr>
        <p:blipFill>
          <a:blip r:embed="rId3"/>
          <a:stretch>
            <a:fillRect/>
          </a:stretch>
        </p:blipFill>
        <p:spPr>
          <a:xfrm>
            <a:off x="7863840" y="4023360"/>
            <a:ext cx="384048" cy="384048"/>
          </a:xfrm>
          <a:prstGeom prst="rect">
            <a:avLst/>
          </a:prstGeom>
        </p:spPr>
      </p:pic>
      <p:sp>
        <p:nvSpPr>
          <p:cNvPr id="11" name="Text 6"/>
          <p:cNvSpPr/>
          <p:nvPr/>
        </p:nvSpPr>
        <p:spPr>
          <a:xfrm>
            <a:off x="8366760" y="3977640"/>
            <a:ext cx="3200400" cy="457200"/>
          </a:xfrm>
          <a:prstGeom prst="rect">
            <a:avLst/>
          </a:prstGeom>
          <a:noFill/>
          <a:ln/>
        </p:spPr>
        <p:txBody>
          <a:bodyPr wrap="square" rtlCol="0" anchor="ctr"/>
          <a:lstStyle/>
          <a:p>
            <a:pPr indent="0" marL="0">
              <a:buNone/>
            </a:pPr>
            <a:r>
              <a:rPr lang="en-US" sz="2000" b="1" dirty="0">
                <a:solidFill>
                  <a:srgbClr val="D9A441"/>
                </a:solidFill>
                <a:latin typeface="Cambria" pitchFamily="34" charset="0"/>
                <a:ea typeface="Cambria" pitchFamily="34" charset="-122"/>
                <a:cs typeface="Cambria" pitchFamily="34" charset="-120"/>
              </a:rPr>
              <a:t>12.5 units/order</a:t>
            </a:r>
            <a:endParaRPr lang="en-US" sz="2000" dirty="0"/>
          </a:p>
        </p:txBody>
      </p:sp>
      <p:sp>
        <p:nvSpPr>
          <p:cNvPr id="12" name="Text 7"/>
          <p:cNvSpPr/>
          <p:nvPr/>
        </p:nvSpPr>
        <p:spPr>
          <a:xfrm>
            <a:off x="7863840" y="4526280"/>
            <a:ext cx="3566160" cy="1280160"/>
          </a:xfrm>
          <a:prstGeom prst="rect">
            <a:avLst/>
          </a:prstGeom>
          <a:noFill/>
          <a:ln/>
        </p:spPr>
        <p:txBody>
          <a:bodyPr wrap="square"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Corporate orders carry the highest average quantity per order, making them a high-value segment for larger, less frequent purchases.</a:t>
            </a:r>
            <a:endParaRPr lang="en-US" sz="1250" dirty="0"/>
          </a:p>
        </p:txBody>
      </p:sp>
      <p:sp>
        <p:nvSpPr>
          <p:cNvPr id="13" name="Text 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14" name="Text 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03 · KEY FINDING 5</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Seasonal Demand Patterns</a:t>
            </a:r>
            <a:endParaRPr lang="en-US" sz="3000" dirty="0"/>
          </a:p>
        </p:txBody>
      </p:sp>
      <p:graphicFrame>
        <p:nvGraphicFramePr>
          <p:cNvPr id="4" name="Chart 0" descr=""/>
          <p:cNvGraphicFramePr/>
          <p:nvPr/>
        </p:nvGraphicFramePr>
        <p:xfrm>
          <a:off x="457200" y="1508760"/>
          <a:ext cx="6858000" cy="4434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508760"/>
            <a:ext cx="4069080" cy="2121408"/>
          </a:xfrm>
          <a:prstGeom prst="roundRect">
            <a:avLst>
              <a:gd name="adj" fmla="val 3448"/>
            </a:avLst>
          </a:prstGeom>
          <a:solidFill>
            <a:srgbClr val="FFFFFF"/>
          </a:solidFill>
          <a:ln/>
          <a:effectLst>
            <a:outerShdw sx="100000" sy="100000" kx="0" ky="0" algn="bl" rotWithShape="0" blurRad="76200" dist="25400" dir="5400000">
              <a:srgbClr val="000000">
                <a:alpha val="10000"/>
              </a:srgbClr>
            </a:outerShdw>
          </a:effectLst>
        </p:spPr>
      </p:sp>
      <p:pic>
        <p:nvPicPr>
          <p:cNvPr id="6" name="Image 0" descr="preencoded.png">    </p:cNvPr>
          <p:cNvPicPr>
            <a:picLocks noChangeAspect="1"/>
          </p:cNvPicPr>
          <p:nvPr/>
        </p:nvPicPr>
        <p:blipFill>
          <a:blip r:embed="rId2"/>
          <a:stretch>
            <a:fillRect/>
          </a:stretch>
        </p:blipFill>
        <p:spPr>
          <a:xfrm>
            <a:off x="7863840" y="1737360"/>
            <a:ext cx="365760" cy="365760"/>
          </a:xfrm>
          <a:prstGeom prst="rect">
            <a:avLst/>
          </a:prstGeom>
        </p:spPr>
      </p:pic>
      <p:sp>
        <p:nvSpPr>
          <p:cNvPr id="7" name="Text 3"/>
          <p:cNvSpPr/>
          <p:nvPr/>
        </p:nvSpPr>
        <p:spPr>
          <a:xfrm>
            <a:off x="8366760" y="1691640"/>
            <a:ext cx="3200400" cy="41148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Peaks: May &amp; August</a:t>
            </a:r>
            <a:endParaRPr lang="en-US" sz="1500" dirty="0"/>
          </a:p>
        </p:txBody>
      </p:sp>
      <p:sp>
        <p:nvSpPr>
          <p:cNvPr id="8" name="Text 4"/>
          <p:cNvSpPr/>
          <p:nvPr/>
        </p:nvSpPr>
        <p:spPr>
          <a:xfrm>
            <a:off x="7863840" y="2240280"/>
            <a:ext cx="3566160" cy="1280160"/>
          </a:xfrm>
          <a:prstGeom prst="rect">
            <a:avLst/>
          </a:prstGeom>
          <a:noFill/>
          <a:ln/>
        </p:spPr>
        <p:txBody>
          <a:bodyPr wrap="square" rtlCol="0" anchor="ctr"/>
          <a:lstStyle/>
          <a:p>
            <a:pPr indent="0" marL="0">
              <a:lnSpc>
                <a:spcPct val="125000"/>
              </a:lnSpc>
              <a:buNone/>
            </a:pPr>
            <a:r>
              <a:rPr lang="en-US" sz="1250" dirty="0">
                <a:solidFill>
                  <a:srgbClr val="1B2436"/>
                </a:solidFill>
                <a:latin typeface="Calibri" pitchFamily="34" charset="0"/>
                <a:ea typeface="Calibri" pitchFamily="34" charset="-122"/>
                <a:cs typeface="Calibri" pitchFamily="34" charset="-120"/>
              </a:rPr>
              <a:t>$79,653 in May and $70,477 in August — the two strongest months of FY2024.</a:t>
            </a:r>
            <a:endParaRPr lang="en-US" sz="1250" dirty="0"/>
          </a:p>
        </p:txBody>
      </p:sp>
      <p:sp>
        <p:nvSpPr>
          <p:cNvPr id="9" name="Shape 5"/>
          <p:cNvSpPr/>
          <p:nvPr/>
        </p:nvSpPr>
        <p:spPr>
          <a:xfrm>
            <a:off x="7589520" y="3794760"/>
            <a:ext cx="4069080" cy="2148840"/>
          </a:xfrm>
          <a:prstGeom prst="roundRect">
            <a:avLst>
              <a:gd name="adj" fmla="val 3404"/>
            </a:avLst>
          </a:prstGeom>
          <a:solidFill>
            <a:srgbClr val="FFFFFF"/>
          </a:solidFill>
          <a:ln/>
          <a:effectLst>
            <a:outerShdw sx="100000" sy="100000" kx="0" ky="0" algn="bl" rotWithShape="0" blurRad="76200" dist="25400" dir="5400000">
              <a:srgbClr val="000000">
                <a:alpha val="10000"/>
              </a:srgbClr>
            </a:outerShdw>
          </a:effectLst>
        </p:spPr>
      </p:sp>
      <p:pic>
        <p:nvPicPr>
          <p:cNvPr id="10" name="Image 1" descr="preencoded.png">    </p:cNvPr>
          <p:cNvPicPr>
            <a:picLocks noChangeAspect="1"/>
          </p:cNvPicPr>
          <p:nvPr/>
        </p:nvPicPr>
        <p:blipFill>
          <a:blip r:embed="rId3"/>
          <a:stretch>
            <a:fillRect/>
          </a:stretch>
        </p:blipFill>
        <p:spPr>
          <a:xfrm>
            <a:off x="7863840" y="4023360"/>
            <a:ext cx="365760" cy="365760"/>
          </a:xfrm>
          <a:prstGeom prst="rect">
            <a:avLst/>
          </a:prstGeom>
        </p:spPr>
      </p:pic>
      <p:sp>
        <p:nvSpPr>
          <p:cNvPr id="11" name="Text 6"/>
          <p:cNvSpPr/>
          <p:nvPr/>
        </p:nvSpPr>
        <p:spPr>
          <a:xfrm>
            <a:off x="8366760" y="3977640"/>
            <a:ext cx="3200400" cy="41148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Troughs: January &amp; October</a:t>
            </a:r>
            <a:endParaRPr lang="en-US" sz="1500" dirty="0"/>
          </a:p>
        </p:txBody>
      </p:sp>
      <p:sp>
        <p:nvSpPr>
          <p:cNvPr id="12" name="Text 7"/>
          <p:cNvSpPr/>
          <p:nvPr/>
        </p:nvSpPr>
        <p:spPr>
          <a:xfrm>
            <a:off x="7863840" y="4526280"/>
            <a:ext cx="3566160" cy="1280160"/>
          </a:xfrm>
          <a:prstGeom prst="rect">
            <a:avLst/>
          </a:prstGeom>
          <a:noFill/>
          <a:ln/>
        </p:spPr>
        <p:txBody>
          <a:bodyPr wrap="square" rtlCol="0" anchor="ctr"/>
          <a:lstStyle/>
          <a:p>
            <a:pPr indent="0" marL="0">
              <a:lnSpc>
                <a:spcPct val="125000"/>
              </a:lnSpc>
              <a:buNone/>
            </a:pPr>
            <a:r>
              <a:rPr lang="en-US" sz="1250" dirty="0">
                <a:solidFill>
                  <a:srgbClr val="1B2436"/>
                </a:solidFill>
                <a:latin typeface="Calibri" pitchFamily="34" charset="0"/>
                <a:ea typeface="Calibri" pitchFamily="34" charset="-122"/>
                <a:cs typeface="Calibri" pitchFamily="34" charset="-120"/>
              </a:rPr>
              <a:t>$14,728 in January and $15,568 in October are consistently the weakest months — a pattern that repeats closely enough to plan around.</a:t>
            </a:r>
            <a:endParaRPr lang="en-US" sz="1250" dirty="0"/>
          </a:p>
        </p:txBody>
      </p:sp>
      <p:sp>
        <p:nvSpPr>
          <p:cNvPr id="13" name="Text 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14" name="Text 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04</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Business Recommendations</a:t>
            </a:r>
            <a:endParaRPr lang="en-US" sz="3000" dirty="0"/>
          </a:p>
        </p:txBody>
      </p:sp>
      <p:sp>
        <p:nvSpPr>
          <p:cNvPr id="4" name="Shape 2"/>
          <p:cNvSpPr/>
          <p:nvPr/>
        </p:nvSpPr>
        <p:spPr>
          <a:xfrm>
            <a:off x="548640" y="1508760"/>
            <a:ext cx="5440680" cy="2103120"/>
          </a:xfrm>
          <a:prstGeom prst="roundRect">
            <a:avLst>
              <a:gd name="adj" fmla="val 3478"/>
            </a:avLst>
          </a:prstGeom>
          <a:solidFill>
            <a:srgbClr val="F4F7FC"/>
          </a:solidFill>
          <a:ln/>
          <a:effectLst>
            <a:outerShdw sx="100000" sy="100000" kx="0" ky="0" algn="bl" rotWithShape="0" blurRad="76200" dist="25400" dir="5400000">
              <a:srgbClr val="000000">
                <a:alpha val="8000"/>
              </a:srgbClr>
            </a:outerShdw>
          </a:effectLst>
        </p:spPr>
      </p:sp>
      <p:sp>
        <p:nvSpPr>
          <p:cNvPr id="5" name="Shape 3"/>
          <p:cNvSpPr/>
          <p:nvPr/>
        </p:nvSpPr>
        <p:spPr>
          <a:xfrm>
            <a:off x="822960" y="1783080"/>
            <a:ext cx="594360" cy="59436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69264" y="1929384"/>
            <a:ext cx="301752" cy="301752"/>
          </a:xfrm>
          <a:prstGeom prst="rect">
            <a:avLst/>
          </a:prstGeom>
        </p:spPr>
      </p:pic>
      <p:sp>
        <p:nvSpPr>
          <p:cNvPr id="7" name="Text 4"/>
          <p:cNvSpPr/>
          <p:nvPr/>
        </p:nvSpPr>
        <p:spPr>
          <a:xfrm>
            <a:off x="1600200" y="1737360"/>
            <a:ext cx="4160520" cy="68580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Review Groceries pricing &amp; supplier costs</a:t>
            </a:r>
            <a:endParaRPr lang="en-US" sz="1500" dirty="0"/>
          </a:p>
        </p:txBody>
      </p:sp>
      <p:sp>
        <p:nvSpPr>
          <p:cNvPr id="8" name="Text 5"/>
          <p:cNvSpPr/>
          <p:nvPr/>
        </p:nvSpPr>
        <p:spPr>
          <a:xfrm>
            <a:off x="822960" y="2468880"/>
            <a:ext cx="4892040" cy="1005840"/>
          </a:xfrm>
          <a:prstGeom prst="rect">
            <a:avLst/>
          </a:prstGeom>
          <a:noFill/>
          <a:ln/>
        </p:spPr>
        <p:txBody>
          <a:bodyPr wrap="square" rtlCol="0" anchor="ctr"/>
          <a:lstStyle/>
          <a:p>
            <a:pPr indent="0" marL="0">
              <a:lnSpc>
                <a:spcPct val="120000"/>
              </a:lnSpc>
              <a:buNone/>
            </a:pPr>
            <a:r>
              <a:rPr lang="en-US" sz="1200" dirty="0">
                <a:solidFill>
                  <a:srgbClr val="1B2436"/>
                </a:solidFill>
                <a:latin typeface="Calibri" pitchFamily="34" charset="0"/>
                <a:ea typeface="Calibri" pitchFamily="34" charset="-122"/>
                <a:cs typeface="Calibri" pitchFamily="34" charset="-120"/>
              </a:rPr>
              <a:t>Renegotiate supplier terms or adjust price points — margin, not volume, is the constraint.</a:t>
            </a:r>
            <a:endParaRPr lang="en-US" sz="1200" dirty="0"/>
          </a:p>
        </p:txBody>
      </p:sp>
      <p:sp>
        <p:nvSpPr>
          <p:cNvPr id="9" name="Shape 6"/>
          <p:cNvSpPr/>
          <p:nvPr/>
        </p:nvSpPr>
        <p:spPr>
          <a:xfrm>
            <a:off x="6309360" y="1508760"/>
            <a:ext cx="5440680" cy="2103120"/>
          </a:xfrm>
          <a:prstGeom prst="roundRect">
            <a:avLst>
              <a:gd name="adj" fmla="val 3478"/>
            </a:avLst>
          </a:prstGeom>
          <a:solidFill>
            <a:srgbClr val="F4F7FC"/>
          </a:solidFill>
          <a:ln/>
          <a:effectLst>
            <a:outerShdw sx="100000" sy="100000" kx="0" ky="0" algn="bl" rotWithShape="0" blurRad="76200" dist="25400" dir="5400000">
              <a:srgbClr val="000000">
                <a:alpha val="8000"/>
              </a:srgbClr>
            </a:outerShdw>
          </a:effectLst>
        </p:spPr>
      </p:sp>
      <p:sp>
        <p:nvSpPr>
          <p:cNvPr id="10" name="Shape 7"/>
          <p:cNvSpPr/>
          <p:nvPr/>
        </p:nvSpPr>
        <p:spPr>
          <a:xfrm>
            <a:off x="6583680" y="1783080"/>
            <a:ext cx="594360" cy="594360"/>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729984" y="1929384"/>
            <a:ext cx="301752" cy="301752"/>
          </a:xfrm>
          <a:prstGeom prst="rect">
            <a:avLst/>
          </a:prstGeom>
        </p:spPr>
      </p:pic>
      <p:sp>
        <p:nvSpPr>
          <p:cNvPr id="12" name="Text 8"/>
          <p:cNvSpPr/>
          <p:nvPr/>
        </p:nvSpPr>
        <p:spPr>
          <a:xfrm>
            <a:off x="7360920" y="1737360"/>
            <a:ext cx="4160520" cy="68580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Investigate the South region's underperformance</a:t>
            </a:r>
            <a:endParaRPr lang="en-US" sz="1500" dirty="0"/>
          </a:p>
        </p:txBody>
      </p:sp>
      <p:sp>
        <p:nvSpPr>
          <p:cNvPr id="13" name="Text 9"/>
          <p:cNvSpPr/>
          <p:nvPr/>
        </p:nvSpPr>
        <p:spPr>
          <a:xfrm>
            <a:off x="6583680" y="2468880"/>
            <a:ext cx="4892040" cy="1005840"/>
          </a:xfrm>
          <a:prstGeom prst="rect">
            <a:avLst/>
          </a:prstGeom>
          <a:noFill/>
          <a:ln/>
        </p:spPr>
        <p:txBody>
          <a:bodyPr wrap="square" rtlCol="0" anchor="ctr"/>
          <a:lstStyle/>
          <a:p>
            <a:pPr indent="0" marL="0">
              <a:lnSpc>
                <a:spcPct val="120000"/>
              </a:lnSpc>
              <a:buNone/>
            </a:pPr>
            <a:r>
              <a:rPr lang="en-US" sz="1200" dirty="0">
                <a:solidFill>
                  <a:srgbClr val="1B2436"/>
                </a:solidFill>
                <a:latin typeface="Calibri" pitchFamily="34" charset="0"/>
                <a:ea typeface="Calibri" pitchFamily="34" charset="-122"/>
                <a:cs typeface="Calibri" pitchFamily="34" charset="-120"/>
              </a:rPr>
              <a:t>Compare staffing, local marketing, and store setup against North and West; pilot a targeted local push.</a:t>
            </a:r>
            <a:endParaRPr lang="en-US" sz="1200" dirty="0"/>
          </a:p>
        </p:txBody>
      </p:sp>
      <p:sp>
        <p:nvSpPr>
          <p:cNvPr id="14" name="Shape 10"/>
          <p:cNvSpPr/>
          <p:nvPr/>
        </p:nvSpPr>
        <p:spPr>
          <a:xfrm>
            <a:off x="548640" y="3886200"/>
            <a:ext cx="5440680" cy="2103120"/>
          </a:xfrm>
          <a:prstGeom prst="roundRect">
            <a:avLst>
              <a:gd name="adj" fmla="val 3478"/>
            </a:avLst>
          </a:prstGeom>
          <a:solidFill>
            <a:srgbClr val="F4F7FC"/>
          </a:solidFill>
          <a:ln/>
          <a:effectLst>
            <a:outerShdw sx="100000" sy="100000" kx="0" ky="0" algn="bl" rotWithShape="0" blurRad="76200" dist="25400" dir="5400000">
              <a:srgbClr val="000000">
                <a:alpha val="8000"/>
              </a:srgbClr>
            </a:outerShdw>
          </a:effectLst>
        </p:spPr>
      </p:sp>
      <p:sp>
        <p:nvSpPr>
          <p:cNvPr id="15" name="Shape 11"/>
          <p:cNvSpPr/>
          <p:nvPr/>
        </p:nvSpPr>
        <p:spPr>
          <a:xfrm>
            <a:off x="822960" y="4160520"/>
            <a:ext cx="594360" cy="594360"/>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969264" y="4306824"/>
            <a:ext cx="301752" cy="301752"/>
          </a:xfrm>
          <a:prstGeom prst="rect">
            <a:avLst/>
          </a:prstGeom>
        </p:spPr>
      </p:pic>
      <p:sp>
        <p:nvSpPr>
          <p:cNvPr id="17" name="Text 12"/>
          <p:cNvSpPr/>
          <p:nvPr/>
        </p:nvSpPr>
        <p:spPr>
          <a:xfrm>
            <a:off x="1600200" y="4114800"/>
            <a:ext cx="4160520" cy="68580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Build retention programs for Small Business &amp; Corporate</a:t>
            </a:r>
            <a:endParaRPr lang="en-US" sz="1500" dirty="0"/>
          </a:p>
        </p:txBody>
      </p:sp>
      <p:sp>
        <p:nvSpPr>
          <p:cNvPr id="18" name="Text 13"/>
          <p:cNvSpPr/>
          <p:nvPr/>
        </p:nvSpPr>
        <p:spPr>
          <a:xfrm>
            <a:off x="822960" y="4846320"/>
            <a:ext cx="4892040" cy="1005840"/>
          </a:xfrm>
          <a:prstGeom prst="rect">
            <a:avLst/>
          </a:prstGeom>
          <a:noFill/>
          <a:ln/>
        </p:spPr>
        <p:txBody>
          <a:bodyPr wrap="square" rtlCol="0" anchor="ctr"/>
          <a:lstStyle/>
          <a:p>
            <a:pPr indent="0" marL="0">
              <a:lnSpc>
                <a:spcPct val="120000"/>
              </a:lnSpc>
              <a:buNone/>
            </a:pPr>
            <a:r>
              <a:rPr lang="en-US" sz="1200" dirty="0">
                <a:solidFill>
                  <a:srgbClr val="1B2436"/>
                </a:solidFill>
                <a:latin typeface="Calibri" pitchFamily="34" charset="0"/>
                <a:ea typeface="Calibri" pitchFamily="34" charset="-122"/>
                <a:cs typeface="Calibri" pitchFamily="34" charset="-120"/>
              </a:rPr>
              <a:t>Small Business drives volume and revenue; Corporate drives larger order sizes. Protect both with loyalty or volume incentives.</a:t>
            </a:r>
            <a:endParaRPr lang="en-US" sz="1200" dirty="0"/>
          </a:p>
        </p:txBody>
      </p:sp>
      <p:sp>
        <p:nvSpPr>
          <p:cNvPr id="19" name="Shape 14"/>
          <p:cNvSpPr/>
          <p:nvPr/>
        </p:nvSpPr>
        <p:spPr>
          <a:xfrm>
            <a:off x="6309360" y="3886200"/>
            <a:ext cx="5440680" cy="2103120"/>
          </a:xfrm>
          <a:prstGeom prst="roundRect">
            <a:avLst>
              <a:gd name="adj" fmla="val 3478"/>
            </a:avLst>
          </a:prstGeom>
          <a:solidFill>
            <a:srgbClr val="F4F7FC"/>
          </a:solidFill>
          <a:ln/>
          <a:effectLst>
            <a:outerShdw sx="100000" sy="100000" kx="0" ky="0" algn="bl" rotWithShape="0" blurRad="76200" dist="25400" dir="5400000">
              <a:srgbClr val="000000">
                <a:alpha val="8000"/>
              </a:srgbClr>
            </a:outerShdw>
          </a:effectLst>
        </p:spPr>
      </p:sp>
      <p:sp>
        <p:nvSpPr>
          <p:cNvPr id="20" name="Shape 15"/>
          <p:cNvSpPr/>
          <p:nvPr/>
        </p:nvSpPr>
        <p:spPr>
          <a:xfrm>
            <a:off x="6583680" y="4160520"/>
            <a:ext cx="594360" cy="594360"/>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6729984" y="4306824"/>
            <a:ext cx="301752" cy="301752"/>
          </a:xfrm>
          <a:prstGeom prst="rect">
            <a:avLst/>
          </a:prstGeom>
        </p:spPr>
      </p:pic>
      <p:sp>
        <p:nvSpPr>
          <p:cNvPr id="22" name="Text 16"/>
          <p:cNvSpPr/>
          <p:nvPr/>
        </p:nvSpPr>
        <p:spPr>
          <a:xfrm>
            <a:off x="7360920" y="4114800"/>
            <a:ext cx="4160520" cy="685800"/>
          </a:xfrm>
          <a:prstGeom prst="rect">
            <a:avLst/>
          </a:prstGeom>
          <a:noFill/>
          <a:ln/>
        </p:spPr>
        <p:txBody>
          <a:bodyPr wrap="square"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Plan inventory &amp; staffing around seasonal peaks</a:t>
            </a:r>
            <a:endParaRPr lang="en-US" sz="1500" dirty="0"/>
          </a:p>
        </p:txBody>
      </p:sp>
      <p:sp>
        <p:nvSpPr>
          <p:cNvPr id="23" name="Text 17"/>
          <p:cNvSpPr/>
          <p:nvPr/>
        </p:nvSpPr>
        <p:spPr>
          <a:xfrm>
            <a:off x="6583680" y="4846320"/>
            <a:ext cx="4892040" cy="1005840"/>
          </a:xfrm>
          <a:prstGeom prst="rect">
            <a:avLst/>
          </a:prstGeom>
          <a:noFill/>
          <a:ln/>
        </p:spPr>
        <p:txBody>
          <a:bodyPr wrap="square" rtlCol="0" anchor="ctr"/>
          <a:lstStyle/>
          <a:p>
            <a:pPr indent="0" marL="0">
              <a:lnSpc>
                <a:spcPct val="120000"/>
              </a:lnSpc>
              <a:buNone/>
            </a:pPr>
            <a:r>
              <a:rPr lang="en-US" sz="1200" dirty="0">
                <a:solidFill>
                  <a:srgbClr val="1B2436"/>
                </a:solidFill>
                <a:latin typeface="Calibri" pitchFamily="34" charset="0"/>
                <a:ea typeface="Calibri" pitchFamily="34" charset="-122"/>
                <a:cs typeface="Calibri" pitchFamily="34" charset="-120"/>
              </a:rPr>
              <a:t>Schedule restocking a month ahead of May and August demand spikes; manage costs during the slower January and October periods.</a:t>
            </a:r>
            <a:endParaRPr lang="en-US" sz="1200" dirty="0"/>
          </a:p>
        </p:txBody>
      </p:sp>
      <p:sp>
        <p:nvSpPr>
          <p:cNvPr id="24" name="Text 1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25" name="Text 1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SECTION 05</a:t>
            </a:r>
            <a:endParaRPr lang="en-US" sz="1200" dirty="0"/>
          </a:p>
        </p:txBody>
      </p:sp>
      <p:sp>
        <p:nvSpPr>
          <p:cNvPr id="3" name="Text 1"/>
          <p:cNvSpPr/>
          <p:nvPr/>
        </p:nvSpPr>
        <p:spPr>
          <a:xfrm>
            <a:off x="548640" y="640080"/>
            <a:ext cx="10972800" cy="59436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Power BI Report Design</a:t>
            </a:r>
            <a:endParaRPr lang="en-US" sz="3000" dirty="0"/>
          </a:p>
        </p:txBody>
      </p:sp>
      <p:sp>
        <p:nvSpPr>
          <p:cNvPr id="4" name="Text 2"/>
          <p:cNvSpPr/>
          <p:nvPr/>
        </p:nvSpPr>
        <p:spPr>
          <a:xfrm>
            <a:off x="548640" y="1280160"/>
            <a:ext cx="10789920" cy="411480"/>
          </a:xfrm>
          <a:prstGeom prst="rect">
            <a:avLst/>
          </a:prstGeom>
          <a:noFill/>
          <a:ln/>
        </p:spPr>
        <p:txBody>
          <a:bodyPr wrap="square" rtlCol="0" anchor="ctr"/>
          <a:lstStyle/>
          <a:p>
            <a:pPr indent="0" marL="0">
              <a:buNone/>
            </a:pPr>
            <a:r>
              <a:rPr lang="en-US" sz="1350" dirty="0">
                <a:solidFill>
                  <a:srgbClr val="667085"/>
                </a:solidFill>
                <a:latin typeface="Calibri" pitchFamily="34" charset="0"/>
                <a:ea typeface="Calibri" pitchFamily="34" charset="-122"/>
                <a:cs typeface="Calibri" pitchFamily="34" charset="-120"/>
              </a:rPr>
              <a:t>A four-page self-service report, built on this same FY2024 dataset, so this analysis stays live and filterable.</a:t>
            </a:r>
            <a:endParaRPr lang="en-US" sz="1350" dirty="0"/>
          </a:p>
        </p:txBody>
      </p:sp>
      <p:sp>
        <p:nvSpPr>
          <p:cNvPr id="5" name="Shape 3"/>
          <p:cNvSpPr/>
          <p:nvPr/>
        </p:nvSpPr>
        <p:spPr>
          <a:xfrm>
            <a:off x="548640" y="1874520"/>
            <a:ext cx="2697480" cy="3108960"/>
          </a:xfrm>
          <a:prstGeom prst="roundRect">
            <a:avLst>
              <a:gd name="adj" fmla="val 2712"/>
            </a:avLst>
          </a:prstGeom>
          <a:solidFill>
            <a:srgbClr val="1E2761"/>
          </a:solidFill>
          <a:ln/>
          <a:effectLst>
            <a:outerShdw sx="100000" sy="100000" kx="0" ky="0" algn="bl" rotWithShape="0" blurRad="76200" dist="25400" dir="5400000">
              <a:srgbClr val="000000">
                <a:alpha val="12000"/>
              </a:srgbClr>
            </a:outerShdw>
          </a:effectLst>
        </p:spPr>
      </p:sp>
      <p:sp>
        <p:nvSpPr>
          <p:cNvPr id="6" name="Shape 4"/>
          <p:cNvSpPr/>
          <p:nvPr/>
        </p:nvSpPr>
        <p:spPr>
          <a:xfrm>
            <a:off x="1577340" y="2148840"/>
            <a:ext cx="640080" cy="640080"/>
          </a:xfrm>
          <a:prstGeom prst="ellipse">
            <a:avLst/>
          </a:prstGeom>
          <a:solidFill>
            <a:srgbClr val="44526B"/>
          </a:solidFill>
          <a:ln/>
        </p:spPr>
      </p:sp>
      <p:pic>
        <p:nvPicPr>
          <p:cNvPr id="7" name="Image 0" descr="preencoded.png">    </p:cNvPr>
          <p:cNvPicPr>
            <a:picLocks noChangeAspect="1"/>
          </p:cNvPicPr>
          <p:nvPr/>
        </p:nvPicPr>
        <p:blipFill>
          <a:blip r:embed="rId1"/>
          <a:stretch>
            <a:fillRect/>
          </a:stretch>
        </p:blipFill>
        <p:spPr>
          <a:xfrm>
            <a:off x="1714500" y="2286000"/>
            <a:ext cx="365760" cy="365760"/>
          </a:xfrm>
          <a:prstGeom prst="rect">
            <a:avLst/>
          </a:prstGeom>
        </p:spPr>
      </p:pic>
      <p:sp>
        <p:nvSpPr>
          <p:cNvPr id="8" name="Text 5"/>
          <p:cNvSpPr/>
          <p:nvPr/>
        </p:nvSpPr>
        <p:spPr>
          <a:xfrm>
            <a:off x="548640" y="2926080"/>
            <a:ext cx="2697480" cy="274320"/>
          </a:xfrm>
          <a:prstGeom prst="rect">
            <a:avLst/>
          </a:prstGeom>
          <a:noFill/>
          <a:ln/>
        </p:spPr>
        <p:txBody>
          <a:bodyPr wrap="square" rtlCol="0" anchor="ctr"/>
          <a:lstStyle/>
          <a:p>
            <a:pPr algn="ctr" indent="0" marL="0">
              <a:buNone/>
            </a:pPr>
            <a:r>
              <a:rPr lang="en-US" sz="1050" b="1" spc="100" kern="0" dirty="0">
                <a:solidFill>
                  <a:srgbClr val="D9A441"/>
                </a:solidFill>
                <a:latin typeface="Calibri" pitchFamily="34" charset="0"/>
                <a:ea typeface="Calibri" pitchFamily="34" charset="-122"/>
                <a:cs typeface="Calibri" pitchFamily="34" charset="-120"/>
              </a:rPr>
              <a:t>PAGE 1</a:t>
            </a:r>
            <a:endParaRPr lang="en-US" sz="1050" dirty="0"/>
          </a:p>
        </p:txBody>
      </p:sp>
      <p:sp>
        <p:nvSpPr>
          <p:cNvPr id="9" name="Text 6"/>
          <p:cNvSpPr/>
          <p:nvPr/>
        </p:nvSpPr>
        <p:spPr>
          <a:xfrm>
            <a:off x="731520" y="3200400"/>
            <a:ext cx="2331720" cy="64008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Executive Overview</a:t>
            </a:r>
            <a:endParaRPr lang="en-US" sz="1450" dirty="0"/>
          </a:p>
        </p:txBody>
      </p:sp>
      <p:sp>
        <p:nvSpPr>
          <p:cNvPr id="10" name="Text 7"/>
          <p:cNvSpPr/>
          <p:nvPr/>
        </p:nvSpPr>
        <p:spPr>
          <a:xfrm>
            <a:off x="731520" y="3840480"/>
            <a:ext cx="2331720" cy="1005840"/>
          </a:xfrm>
          <a:prstGeom prst="rect">
            <a:avLst/>
          </a:prstGeom>
          <a:noFill/>
          <a:ln/>
        </p:spPr>
        <p:txBody>
          <a:bodyPr wrap="square" rtlCol="0" anchor="ctr"/>
          <a:lstStyle/>
          <a:p>
            <a:pPr algn="ctr" indent="0" marL="0">
              <a:lnSpc>
                <a:spcPct val="120000"/>
              </a:lnSpc>
              <a:buNone/>
            </a:pPr>
            <a:r>
              <a:rPr lang="en-US" sz="1050" dirty="0">
                <a:solidFill>
                  <a:srgbClr val="CADCFC"/>
                </a:solidFill>
                <a:latin typeface="Calibri" pitchFamily="34" charset="0"/>
                <a:ea typeface="Calibri" pitchFamily="34" charset="-122"/>
                <a:cs typeface="Calibri" pitchFamily="34" charset="-120"/>
              </a:rPr>
              <a:t>KPI cards, monthly sales trend, sales by region &amp; category</a:t>
            </a:r>
            <a:endParaRPr lang="en-US" sz="1050" dirty="0"/>
          </a:p>
        </p:txBody>
      </p:sp>
      <p:sp>
        <p:nvSpPr>
          <p:cNvPr id="11" name="Shape 8"/>
          <p:cNvSpPr/>
          <p:nvPr/>
        </p:nvSpPr>
        <p:spPr>
          <a:xfrm>
            <a:off x="3383280" y="1874520"/>
            <a:ext cx="2697480" cy="3108960"/>
          </a:xfrm>
          <a:prstGeom prst="roundRect">
            <a:avLst>
              <a:gd name="adj" fmla="val 2712"/>
            </a:avLst>
          </a:prstGeom>
          <a:solidFill>
            <a:srgbClr val="1E2761"/>
          </a:solidFill>
          <a:ln/>
          <a:effectLst>
            <a:outerShdw sx="100000" sy="100000" kx="0" ky="0" algn="bl" rotWithShape="0" blurRad="76200" dist="25400" dir="5400000">
              <a:srgbClr val="000000">
                <a:alpha val="12000"/>
              </a:srgbClr>
            </a:outerShdw>
          </a:effectLst>
        </p:spPr>
      </p:sp>
      <p:sp>
        <p:nvSpPr>
          <p:cNvPr id="12" name="Shape 9"/>
          <p:cNvSpPr/>
          <p:nvPr/>
        </p:nvSpPr>
        <p:spPr>
          <a:xfrm>
            <a:off x="4411980" y="2148840"/>
            <a:ext cx="640080" cy="640080"/>
          </a:xfrm>
          <a:prstGeom prst="ellipse">
            <a:avLst/>
          </a:prstGeom>
          <a:solidFill>
            <a:srgbClr val="44526B"/>
          </a:solidFill>
          <a:ln/>
        </p:spPr>
      </p:sp>
      <p:pic>
        <p:nvPicPr>
          <p:cNvPr id="13" name="Image 1" descr="preencoded.png">    </p:cNvPr>
          <p:cNvPicPr>
            <a:picLocks noChangeAspect="1"/>
          </p:cNvPicPr>
          <p:nvPr/>
        </p:nvPicPr>
        <p:blipFill>
          <a:blip r:embed="rId2"/>
          <a:stretch>
            <a:fillRect/>
          </a:stretch>
        </p:blipFill>
        <p:spPr>
          <a:xfrm>
            <a:off x="4549140" y="2286000"/>
            <a:ext cx="365760" cy="365760"/>
          </a:xfrm>
          <a:prstGeom prst="rect">
            <a:avLst/>
          </a:prstGeom>
        </p:spPr>
      </p:pic>
      <p:sp>
        <p:nvSpPr>
          <p:cNvPr id="14" name="Text 10"/>
          <p:cNvSpPr/>
          <p:nvPr/>
        </p:nvSpPr>
        <p:spPr>
          <a:xfrm>
            <a:off x="3383280" y="2926080"/>
            <a:ext cx="2697480" cy="274320"/>
          </a:xfrm>
          <a:prstGeom prst="rect">
            <a:avLst/>
          </a:prstGeom>
          <a:noFill/>
          <a:ln/>
        </p:spPr>
        <p:txBody>
          <a:bodyPr wrap="square" rtlCol="0" anchor="ctr"/>
          <a:lstStyle/>
          <a:p>
            <a:pPr algn="ctr" indent="0" marL="0">
              <a:buNone/>
            </a:pPr>
            <a:r>
              <a:rPr lang="en-US" sz="1050" b="1" spc="100" kern="0" dirty="0">
                <a:solidFill>
                  <a:srgbClr val="D9A441"/>
                </a:solidFill>
                <a:latin typeface="Calibri" pitchFamily="34" charset="0"/>
                <a:ea typeface="Calibri" pitchFamily="34" charset="-122"/>
                <a:cs typeface="Calibri" pitchFamily="34" charset="-120"/>
              </a:rPr>
              <a:t>PAGE 2</a:t>
            </a:r>
            <a:endParaRPr lang="en-US" sz="1050" dirty="0"/>
          </a:p>
        </p:txBody>
      </p:sp>
      <p:sp>
        <p:nvSpPr>
          <p:cNvPr id="15" name="Text 11"/>
          <p:cNvSpPr/>
          <p:nvPr/>
        </p:nvSpPr>
        <p:spPr>
          <a:xfrm>
            <a:off x="3566160" y="3200400"/>
            <a:ext cx="2331720" cy="64008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Regional Performance</a:t>
            </a:r>
            <a:endParaRPr lang="en-US" sz="1450" dirty="0"/>
          </a:p>
        </p:txBody>
      </p:sp>
      <p:sp>
        <p:nvSpPr>
          <p:cNvPr id="16" name="Text 12"/>
          <p:cNvSpPr/>
          <p:nvPr/>
        </p:nvSpPr>
        <p:spPr>
          <a:xfrm>
            <a:off x="3566160" y="3840480"/>
            <a:ext cx="2331720" cy="1005840"/>
          </a:xfrm>
          <a:prstGeom prst="rect">
            <a:avLst/>
          </a:prstGeom>
          <a:noFill/>
          <a:ln/>
        </p:spPr>
        <p:txBody>
          <a:bodyPr wrap="square" rtlCol="0" anchor="ctr"/>
          <a:lstStyle/>
          <a:p>
            <a:pPr algn="ctr" indent="0" marL="0">
              <a:lnSpc>
                <a:spcPct val="120000"/>
              </a:lnSpc>
              <a:buNone/>
            </a:pPr>
            <a:r>
              <a:rPr lang="en-US" sz="1050" dirty="0">
                <a:solidFill>
                  <a:srgbClr val="CADCFC"/>
                </a:solidFill>
                <a:latin typeface="Calibri" pitchFamily="34" charset="0"/>
                <a:ea typeface="Calibri" pitchFamily="34" charset="-122"/>
                <a:cs typeface="Calibri" pitchFamily="34" charset="-120"/>
              </a:rPr>
              <a:t>Sales &amp; profit by region, margin %, region × category matrix</a:t>
            </a:r>
            <a:endParaRPr lang="en-US" sz="1050" dirty="0"/>
          </a:p>
        </p:txBody>
      </p:sp>
      <p:sp>
        <p:nvSpPr>
          <p:cNvPr id="17" name="Shape 13"/>
          <p:cNvSpPr/>
          <p:nvPr/>
        </p:nvSpPr>
        <p:spPr>
          <a:xfrm>
            <a:off x="6217920" y="1874520"/>
            <a:ext cx="2697480" cy="3108960"/>
          </a:xfrm>
          <a:prstGeom prst="roundRect">
            <a:avLst>
              <a:gd name="adj" fmla="val 2712"/>
            </a:avLst>
          </a:prstGeom>
          <a:solidFill>
            <a:srgbClr val="1E2761"/>
          </a:solidFill>
          <a:ln/>
          <a:effectLst>
            <a:outerShdw sx="100000" sy="100000" kx="0" ky="0" algn="bl" rotWithShape="0" blurRad="76200" dist="25400" dir="5400000">
              <a:srgbClr val="000000">
                <a:alpha val="12000"/>
              </a:srgbClr>
            </a:outerShdw>
          </a:effectLst>
        </p:spPr>
      </p:sp>
      <p:sp>
        <p:nvSpPr>
          <p:cNvPr id="18" name="Shape 14"/>
          <p:cNvSpPr/>
          <p:nvPr/>
        </p:nvSpPr>
        <p:spPr>
          <a:xfrm>
            <a:off x="7246620" y="2148840"/>
            <a:ext cx="640080" cy="640080"/>
          </a:xfrm>
          <a:prstGeom prst="ellipse">
            <a:avLst/>
          </a:prstGeom>
          <a:solidFill>
            <a:srgbClr val="44526B"/>
          </a:solidFill>
          <a:ln/>
        </p:spPr>
      </p:sp>
      <p:pic>
        <p:nvPicPr>
          <p:cNvPr id="19" name="Image 2" descr="preencoded.png">    </p:cNvPr>
          <p:cNvPicPr>
            <a:picLocks noChangeAspect="1"/>
          </p:cNvPicPr>
          <p:nvPr/>
        </p:nvPicPr>
        <p:blipFill>
          <a:blip r:embed="rId3"/>
          <a:stretch>
            <a:fillRect/>
          </a:stretch>
        </p:blipFill>
        <p:spPr>
          <a:xfrm>
            <a:off x="7383780" y="2286000"/>
            <a:ext cx="365760" cy="365760"/>
          </a:xfrm>
          <a:prstGeom prst="rect">
            <a:avLst/>
          </a:prstGeom>
        </p:spPr>
      </p:pic>
      <p:sp>
        <p:nvSpPr>
          <p:cNvPr id="20" name="Text 15"/>
          <p:cNvSpPr/>
          <p:nvPr/>
        </p:nvSpPr>
        <p:spPr>
          <a:xfrm>
            <a:off x="6217920" y="2926080"/>
            <a:ext cx="2697480" cy="274320"/>
          </a:xfrm>
          <a:prstGeom prst="rect">
            <a:avLst/>
          </a:prstGeom>
          <a:noFill/>
          <a:ln/>
        </p:spPr>
        <p:txBody>
          <a:bodyPr wrap="square" rtlCol="0" anchor="ctr"/>
          <a:lstStyle/>
          <a:p>
            <a:pPr algn="ctr" indent="0" marL="0">
              <a:buNone/>
            </a:pPr>
            <a:r>
              <a:rPr lang="en-US" sz="1050" b="1" spc="100" kern="0" dirty="0">
                <a:solidFill>
                  <a:srgbClr val="D9A441"/>
                </a:solidFill>
                <a:latin typeface="Calibri" pitchFamily="34" charset="0"/>
                <a:ea typeface="Calibri" pitchFamily="34" charset="-122"/>
                <a:cs typeface="Calibri" pitchFamily="34" charset="-120"/>
              </a:rPr>
              <a:t>PAGE 3</a:t>
            </a:r>
            <a:endParaRPr lang="en-US" sz="1050" dirty="0"/>
          </a:p>
        </p:txBody>
      </p:sp>
      <p:sp>
        <p:nvSpPr>
          <p:cNvPr id="21" name="Text 16"/>
          <p:cNvSpPr/>
          <p:nvPr/>
        </p:nvSpPr>
        <p:spPr>
          <a:xfrm>
            <a:off x="6400800" y="3200400"/>
            <a:ext cx="2331720" cy="64008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Product Category Analysis</a:t>
            </a:r>
            <a:endParaRPr lang="en-US" sz="1450" dirty="0"/>
          </a:p>
        </p:txBody>
      </p:sp>
      <p:sp>
        <p:nvSpPr>
          <p:cNvPr id="22" name="Text 17"/>
          <p:cNvSpPr/>
          <p:nvPr/>
        </p:nvSpPr>
        <p:spPr>
          <a:xfrm>
            <a:off x="6400800" y="3840480"/>
            <a:ext cx="2331720" cy="1005840"/>
          </a:xfrm>
          <a:prstGeom prst="rect">
            <a:avLst/>
          </a:prstGeom>
          <a:noFill/>
          <a:ln/>
        </p:spPr>
        <p:txBody>
          <a:bodyPr wrap="square" rtlCol="0" anchor="ctr"/>
          <a:lstStyle/>
          <a:p>
            <a:pPr algn="ctr" indent="0" marL="0">
              <a:lnSpc>
                <a:spcPct val="120000"/>
              </a:lnSpc>
              <a:buNone/>
            </a:pPr>
            <a:r>
              <a:rPr lang="en-US" sz="1050" dirty="0">
                <a:solidFill>
                  <a:srgbClr val="CADCFC"/>
                </a:solidFill>
                <a:latin typeface="Calibri" pitchFamily="34" charset="0"/>
                <a:ea typeface="Calibri" pitchFamily="34" charset="-122"/>
                <a:cs typeface="Calibri" pitchFamily="34" charset="-120"/>
              </a:rPr>
              <a:t>Sales &amp; profit by category, margin ranking, AOV vs. margin</a:t>
            </a:r>
            <a:endParaRPr lang="en-US" sz="1050" dirty="0"/>
          </a:p>
        </p:txBody>
      </p:sp>
      <p:sp>
        <p:nvSpPr>
          <p:cNvPr id="23" name="Shape 18"/>
          <p:cNvSpPr/>
          <p:nvPr/>
        </p:nvSpPr>
        <p:spPr>
          <a:xfrm>
            <a:off x="9052560" y="1874520"/>
            <a:ext cx="2697480" cy="3108960"/>
          </a:xfrm>
          <a:prstGeom prst="roundRect">
            <a:avLst>
              <a:gd name="adj" fmla="val 2712"/>
            </a:avLst>
          </a:prstGeom>
          <a:solidFill>
            <a:srgbClr val="1E2761"/>
          </a:solidFill>
          <a:ln/>
          <a:effectLst>
            <a:outerShdw sx="100000" sy="100000" kx="0" ky="0" algn="bl" rotWithShape="0" blurRad="76200" dist="25400" dir="5400000">
              <a:srgbClr val="000000">
                <a:alpha val="12000"/>
              </a:srgbClr>
            </a:outerShdw>
          </a:effectLst>
        </p:spPr>
      </p:sp>
      <p:sp>
        <p:nvSpPr>
          <p:cNvPr id="24" name="Shape 19"/>
          <p:cNvSpPr/>
          <p:nvPr/>
        </p:nvSpPr>
        <p:spPr>
          <a:xfrm>
            <a:off x="10081260" y="2148840"/>
            <a:ext cx="640080" cy="640080"/>
          </a:xfrm>
          <a:prstGeom prst="ellipse">
            <a:avLst/>
          </a:prstGeom>
          <a:solidFill>
            <a:srgbClr val="44526B"/>
          </a:solidFill>
          <a:ln/>
        </p:spPr>
      </p:sp>
      <p:pic>
        <p:nvPicPr>
          <p:cNvPr id="25" name="Image 3" descr="preencoded.png">    </p:cNvPr>
          <p:cNvPicPr>
            <a:picLocks noChangeAspect="1"/>
          </p:cNvPicPr>
          <p:nvPr/>
        </p:nvPicPr>
        <p:blipFill>
          <a:blip r:embed="rId4"/>
          <a:stretch>
            <a:fillRect/>
          </a:stretch>
        </p:blipFill>
        <p:spPr>
          <a:xfrm>
            <a:off x="10218420" y="2286000"/>
            <a:ext cx="365760" cy="365760"/>
          </a:xfrm>
          <a:prstGeom prst="rect">
            <a:avLst/>
          </a:prstGeom>
        </p:spPr>
      </p:pic>
      <p:sp>
        <p:nvSpPr>
          <p:cNvPr id="26" name="Text 20"/>
          <p:cNvSpPr/>
          <p:nvPr/>
        </p:nvSpPr>
        <p:spPr>
          <a:xfrm>
            <a:off x="9052560" y="2926080"/>
            <a:ext cx="2697480" cy="274320"/>
          </a:xfrm>
          <a:prstGeom prst="rect">
            <a:avLst/>
          </a:prstGeom>
          <a:noFill/>
          <a:ln/>
        </p:spPr>
        <p:txBody>
          <a:bodyPr wrap="square" rtlCol="0" anchor="ctr"/>
          <a:lstStyle/>
          <a:p>
            <a:pPr algn="ctr" indent="0" marL="0">
              <a:buNone/>
            </a:pPr>
            <a:r>
              <a:rPr lang="en-US" sz="1050" b="1" spc="100" kern="0" dirty="0">
                <a:solidFill>
                  <a:srgbClr val="D9A441"/>
                </a:solidFill>
                <a:latin typeface="Calibri" pitchFamily="34" charset="0"/>
                <a:ea typeface="Calibri" pitchFamily="34" charset="-122"/>
                <a:cs typeface="Calibri" pitchFamily="34" charset="-120"/>
              </a:rPr>
              <a:t>PAGE 4</a:t>
            </a:r>
            <a:endParaRPr lang="en-US" sz="1050" dirty="0"/>
          </a:p>
        </p:txBody>
      </p:sp>
      <p:sp>
        <p:nvSpPr>
          <p:cNvPr id="27" name="Text 21"/>
          <p:cNvSpPr/>
          <p:nvPr/>
        </p:nvSpPr>
        <p:spPr>
          <a:xfrm>
            <a:off x="9235440" y="3200400"/>
            <a:ext cx="2331720" cy="64008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Customer Segment Insights</a:t>
            </a:r>
            <a:endParaRPr lang="en-US" sz="1450" dirty="0"/>
          </a:p>
        </p:txBody>
      </p:sp>
      <p:sp>
        <p:nvSpPr>
          <p:cNvPr id="28" name="Text 22"/>
          <p:cNvSpPr/>
          <p:nvPr/>
        </p:nvSpPr>
        <p:spPr>
          <a:xfrm>
            <a:off x="9235440" y="3840480"/>
            <a:ext cx="2331720" cy="1005840"/>
          </a:xfrm>
          <a:prstGeom prst="rect">
            <a:avLst/>
          </a:prstGeom>
          <a:noFill/>
          <a:ln/>
        </p:spPr>
        <p:txBody>
          <a:bodyPr wrap="square" rtlCol="0" anchor="ctr"/>
          <a:lstStyle/>
          <a:p>
            <a:pPr algn="ctr" indent="0" marL="0">
              <a:lnSpc>
                <a:spcPct val="120000"/>
              </a:lnSpc>
              <a:buNone/>
            </a:pPr>
            <a:r>
              <a:rPr lang="en-US" sz="1050" dirty="0">
                <a:solidFill>
                  <a:srgbClr val="CADCFC"/>
                </a:solidFill>
                <a:latin typeface="Calibri" pitchFamily="34" charset="0"/>
                <a:ea typeface="Calibri" pitchFamily="34" charset="-122"/>
                <a:cs typeface="Calibri" pitchFamily="34" charset="-120"/>
              </a:rPr>
              <a:t>Sales &amp; profit by segment, average order value, segment × region</a:t>
            </a:r>
            <a:endParaRPr lang="en-US" sz="1050" dirty="0"/>
          </a:p>
        </p:txBody>
      </p:sp>
      <p:sp>
        <p:nvSpPr>
          <p:cNvPr id="29" name="Text 23"/>
          <p:cNvSpPr/>
          <p:nvPr/>
        </p:nvSpPr>
        <p:spPr>
          <a:xfrm>
            <a:off x="548640" y="5257800"/>
            <a:ext cx="10789920" cy="36576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Filters on every page:  Region  ·  Product Category  ·  Customer Segment  ·  Month</a:t>
            </a:r>
            <a:endParaRPr lang="en-US" sz="1250" dirty="0"/>
          </a:p>
        </p:txBody>
      </p:sp>
      <p:sp>
        <p:nvSpPr>
          <p:cNvPr id="30" name="Text 24"/>
          <p:cNvSpPr/>
          <p:nvPr/>
        </p:nvSpPr>
        <p:spPr>
          <a:xfrm>
            <a:off x="548640" y="5623560"/>
            <a:ext cx="10789920" cy="365760"/>
          </a:xfrm>
          <a:prstGeom prst="rect">
            <a:avLst/>
          </a:prstGeom>
          <a:noFill/>
          <a:ln/>
        </p:spPr>
        <p:txBody>
          <a:bodyPr wrap="square" rtlCol="0" anchor="ctr"/>
          <a:lstStyle/>
          <a:p>
            <a:pPr algn="ctr" indent="0" marL="0">
              <a:buNone/>
            </a:pPr>
            <a:r>
              <a:rPr lang="en-US" sz="1150" dirty="0">
                <a:solidFill>
                  <a:srgbClr val="667085"/>
                </a:solidFill>
                <a:latin typeface="Calibri" pitchFamily="34" charset="0"/>
                <a:ea typeface="Calibri" pitchFamily="34" charset="-122"/>
                <a:cs typeface="Calibri" pitchFamily="34" charset="-120"/>
              </a:rPr>
              <a:t>Core DAX measures: Total Sales · Total Profit · Profit Margin % · Total Quantity Sold · Average Order Value</a:t>
            </a:r>
            <a:endParaRPr lang="en-US" sz="1150" dirty="0"/>
          </a:p>
        </p:txBody>
      </p:sp>
      <p:sp>
        <p:nvSpPr>
          <p:cNvPr id="31" name="Text 2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67085"/>
                </a:solidFill>
                <a:latin typeface="Calibri" pitchFamily="34" charset="0"/>
                <a:ea typeface="Calibri" pitchFamily="34" charset="-122"/>
                <a:cs typeface="Calibri" pitchFamily="34" charset="-120"/>
              </a:rPr>
              <a:t>BrightMart Retail Co.  |  FY2024 Sales Performance &amp; Business Insights</a:t>
            </a:r>
            <a:endParaRPr lang="en-US" sz="900" dirty="0"/>
          </a:p>
        </p:txBody>
      </p:sp>
      <p:sp>
        <p:nvSpPr>
          <p:cNvPr id="32" name="Text 2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670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47"/>
        </a:solidFill>
      </p:bgPr>
    </p:bg>
    <p:spTree>
      <p:nvGrpSpPr>
        <p:cNvPr id="1" name=""/>
        <p:cNvGrpSpPr/>
        <p:nvPr/>
      </p:nvGrpSpPr>
      <p:grpSpPr>
        <a:xfrm>
          <a:off x="0" y="0"/>
          <a:ext cx="0" cy="0"/>
          <a:chOff x="0" y="0"/>
          <a:chExt cx="0" cy="0"/>
        </a:xfrm>
      </p:grpSpPr>
      <p:sp>
        <p:nvSpPr>
          <p:cNvPr id="2" name="Shape 0"/>
          <p:cNvSpPr/>
          <p:nvPr/>
        </p:nvSpPr>
        <p:spPr>
          <a:xfrm>
            <a:off x="-1828800" y="3657600"/>
            <a:ext cx="5486400" cy="5486400"/>
          </a:xfrm>
          <a:prstGeom prst="ellipse">
            <a:avLst/>
          </a:prstGeom>
          <a:solidFill>
            <a:srgbClr val="1E2761">
              <a:alpha val="60000"/>
            </a:srgbClr>
          </a:solidFill>
          <a:ln/>
        </p:spPr>
      </p:sp>
      <p:sp>
        <p:nvSpPr>
          <p:cNvPr id="3" name="Text 1"/>
          <p:cNvSpPr/>
          <p:nvPr/>
        </p:nvSpPr>
        <p:spPr>
          <a:xfrm>
            <a:off x="822960" y="2468880"/>
            <a:ext cx="73152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4" name="Text 2"/>
          <p:cNvSpPr/>
          <p:nvPr/>
        </p:nvSpPr>
        <p:spPr>
          <a:xfrm>
            <a:off x="822960" y="3291840"/>
            <a:ext cx="7315200" cy="457200"/>
          </a:xfrm>
          <a:prstGeom prst="rect">
            <a:avLst/>
          </a:prstGeom>
          <a:noFill/>
          <a:ln/>
        </p:spPr>
        <p:txBody>
          <a:bodyPr wrap="square" rtlCol="0" anchor="ctr"/>
          <a:lstStyle/>
          <a:p>
            <a:pPr indent="0" marL="0">
              <a:buNone/>
            </a:pPr>
            <a:r>
              <a:rPr lang="en-US" sz="1600" i="1" dirty="0">
                <a:solidFill>
                  <a:srgbClr val="D9A441"/>
                </a:solidFill>
                <a:latin typeface="Calibri" pitchFamily="34" charset="0"/>
                <a:ea typeface="Calibri" pitchFamily="34" charset="-122"/>
                <a:cs typeface="Calibri" pitchFamily="34" charset="-120"/>
              </a:rPr>
              <a:t>Questions &amp; discussion</a:t>
            </a:r>
            <a:endParaRPr lang="en-US" sz="1600" dirty="0"/>
          </a:p>
        </p:txBody>
      </p:sp>
      <p:sp>
        <p:nvSpPr>
          <p:cNvPr id="5" name="Shape 3"/>
          <p:cNvSpPr/>
          <p:nvPr/>
        </p:nvSpPr>
        <p:spPr>
          <a:xfrm>
            <a:off x="822960" y="3931920"/>
            <a:ext cx="2011680" cy="0"/>
          </a:xfrm>
          <a:prstGeom prst="line">
            <a:avLst/>
          </a:prstGeom>
          <a:noFill/>
          <a:ln w="19050">
            <a:solidFill>
              <a:srgbClr val="CADCFC"/>
            </a:solidFill>
            <a:prstDash val="solid"/>
          </a:ln>
        </p:spPr>
      </p:sp>
      <p:sp>
        <p:nvSpPr>
          <p:cNvPr id="6" name="Text 4"/>
          <p:cNvSpPr/>
          <p:nvPr/>
        </p:nvSpPr>
        <p:spPr>
          <a:xfrm>
            <a:off x="822960" y="4114800"/>
            <a:ext cx="82296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Business &amp; Data Analyst  |  BrightMart Retail Co.  |  FY2024 Sales Performance &amp; Business Insights Report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Performance &amp; Business Insights</dc:title>
  <dc:subject>PptxGenJS Presentation</dc:subject>
  <dc:creator>Business &amp; Data Analyst</dc:creator>
  <cp:lastModifiedBy>Business &amp; Data Analyst</cp:lastModifiedBy>
  <cp:revision>1</cp:revision>
  <dcterms:created xsi:type="dcterms:W3CDTF">2026-07-07T11:17:39Z</dcterms:created>
  <dcterms:modified xsi:type="dcterms:W3CDTF">2026-07-07T11:17:39Z</dcterms:modified>
</cp:coreProperties>
</file>